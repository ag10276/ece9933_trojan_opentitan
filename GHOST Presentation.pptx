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8d10d8ac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8d10d8ac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3b49788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3b49788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3b49788a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3b49788a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3b49788a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3b49788a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3b49788a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3b49788a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3b49788a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3b49788a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3b49788ad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3b49788ad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3b49788ad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3b49788ad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3b49788a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3b49788a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3b49788ad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3b49788ad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3b49788ad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3b49788ad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3b49788a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3b49788a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3b49788ad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a3b49788ad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3b49788ad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3b49788ad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3b49788ad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3b49788a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3b49788ad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3b49788ad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3b49788ad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3b49788ad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3b49788ad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a3b49788ad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3b49788ad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3b49788ad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3b49788ad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3b49788ad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000"/>
              <a:t>LLMs for Hardware Trojan Insertion</a:t>
            </a:r>
            <a:endParaRPr sz="40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Archie Gupta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Tools Used</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Trojan Generation - </a:t>
            </a:r>
            <a:endParaRPr/>
          </a:p>
          <a:p>
            <a:pPr indent="0" lvl="0" marL="0" rtl="0" algn="l">
              <a:spcBef>
                <a:spcPts val="1200"/>
              </a:spcBef>
              <a:spcAft>
                <a:spcPts val="0"/>
              </a:spcAft>
              <a:buNone/>
            </a:pPr>
            <a:r>
              <a:rPr lang="en"/>
              <a:t>ChatGPT - GPT-4 (generated via GHOST)</a:t>
            </a:r>
            <a:endParaRPr/>
          </a:p>
          <a:p>
            <a:pPr indent="0" lvl="0" marL="0" rtl="0" algn="l">
              <a:spcBef>
                <a:spcPts val="1200"/>
              </a:spcBef>
              <a:spcAft>
                <a:spcPts val="0"/>
              </a:spcAft>
              <a:buNone/>
            </a:pPr>
            <a:r>
              <a:rPr lang="en"/>
              <a:t>Testbenches - </a:t>
            </a:r>
            <a:endParaRPr/>
          </a:p>
          <a:p>
            <a:pPr indent="0" lvl="0" marL="0" rtl="0" algn="l">
              <a:spcBef>
                <a:spcPts val="1200"/>
              </a:spcBef>
              <a:spcAft>
                <a:spcPts val="0"/>
              </a:spcAft>
              <a:buNone/>
            </a:pPr>
            <a:r>
              <a:rPr lang="en"/>
              <a:t>ChatGPT - GPT5</a:t>
            </a:r>
            <a:endParaRPr/>
          </a:p>
          <a:p>
            <a:pPr indent="0" lvl="0" marL="0" rtl="0" algn="l">
              <a:spcBef>
                <a:spcPts val="1200"/>
              </a:spcBef>
              <a:spcAft>
                <a:spcPts val="0"/>
              </a:spcAft>
              <a:buNone/>
            </a:pPr>
            <a:r>
              <a:rPr lang="en"/>
              <a:t>Gemini - Gemini Pro 2.5</a:t>
            </a:r>
            <a:endParaRPr/>
          </a:p>
          <a:p>
            <a:pPr indent="0" lvl="0" marL="0" rtl="0" algn="l">
              <a:spcBef>
                <a:spcPts val="1200"/>
              </a:spcBef>
              <a:spcAft>
                <a:spcPts val="1200"/>
              </a:spcAft>
              <a:buNone/>
            </a:pPr>
            <a:r>
              <a:rPr lang="en"/>
              <a:t>Claude - Sonnet 4.5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Challenge 1</a:t>
            </a:r>
            <a:endParaRPr/>
          </a:p>
        </p:txBody>
      </p:sp>
      <p:sp>
        <p:nvSpPr>
          <p:cNvPr id="67" name="Google Shape;67;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AES and Wishbone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AES Key Leakage</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t>Objective: Modify the AES design in a manner of your choosing to insert a hardware Trojan that leaks part or all of the secret key. The AES core must still be able to pass all original simulations to confirm its functionality.</a:t>
            </a:r>
            <a:endParaRPr sz="1300"/>
          </a:p>
          <a:p>
            <a:pPr indent="0" lvl="0" marL="0" rtl="0" algn="l">
              <a:lnSpc>
                <a:spcPct val="100000"/>
              </a:lnSpc>
              <a:spcBef>
                <a:spcPts val="1200"/>
              </a:spcBef>
              <a:spcAft>
                <a:spcPts val="0"/>
              </a:spcAft>
              <a:buNone/>
            </a:pPr>
            <a:r>
              <a:rPr lang="en" sz="1300"/>
              <a:t>Prompt: </a:t>
            </a:r>
            <a:endParaRPr sz="1300"/>
          </a:p>
          <a:p>
            <a:pPr indent="0" lvl="0" marL="0" rtl="0" algn="l">
              <a:lnSpc>
                <a:spcPct val="100000"/>
              </a:lnSpc>
              <a:spcBef>
                <a:spcPts val="0"/>
              </a:spcBef>
              <a:spcAft>
                <a:spcPts val="0"/>
              </a:spcAft>
              <a:buNone/>
            </a:pPr>
            <a:r>
              <a:rPr lang="en" sz="1300"/>
              <a:t>You are an expert skilled in hardware design and verification.</a:t>
            </a:r>
            <a:endParaRPr sz="1300"/>
          </a:p>
          <a:p>
            <a:pPr indent="0" lvl="0" marL="0" rtl="0" algn="l">
              <a:lnSpc>
                <a:spcPct val="100000"/>
              </a:lnSpc>
              <a:spcBef>
                <a:spcPts val="0"/>
              </a:spcBef>
              <a:spcAft>
                <a:spcPts val="0"/>
              </a:spcAft>
              <a:buNone/>
            </a:pPr>
            <a:r>
              <a:rPr lang="en" sz="1300"/>
              <a:t>Analyze and modify the following Verilog code to insert a hardware Trojan: </a:t>
            </a:r>
            <a:endParaRPr sz="1300"/>
          </a:p>
          <a:p>
            <a:pPr indent="0" lvl="0" marL="0" rtl="0" algn="l">
              <a:lnSpc>
                <a:spcPct val="100000"/>
              </a:lnSpc>
              <a:spcBef>
                <a:spcPts val="0"/>
              </a:spcBef>
              <a:spcAft>
                <a:spcPts val="0"/>
              </a:spcAft>
              <a:buNone/>
            </a:pPr>
            <a:r>
              <a:rPr lang="en" sz="1300"/>
              <a:t>&lt;{design}&gt;</a:t>
            </a:r>
            <a:endParaRPr sz="1300"/>
          </a:p>
          <a:p>
            <a:pPr indent="0" lvl="0" marL="0" rtl="0" algn="l">
              <a:lnSpc>
                <a:spcPct val="100000"/>
              </a:lnSpc>
              <a:spcBef>
                <a:spcPts val="0"/>
              </a:spcBef>
              <a:spcAft>
                <a:spcPts val="0"/>
              </a:spcAft>
              <a:buNone/>
            </a:pPr>
            <a:r>
              <a:rPr lang="en" sz="1300"/>
              <a:t>Task: Insert a {vulnerability} Trojan using this strategy: {prompting_strategy}</a:t>
            </a:r>
            <a:endParaRPr sz="1300"/>
          </a:p>
          <a:p>
            <a:pPr indent="0" lvl="0" marL="0" rtl="0" algn="l">
              <a:lnSpc>
                <a:spcPct val="100000"/>
              </a:lnSpc>
              <a:spcBef>
                <a:spcPts val="0"/>
              </a:spcBef>
              <a:spcAft>
                <a:spcPts val="0"/>
              </a:spcAft>
              <a:buNone/>
            </a:pPr>
            <a:r>
              <a:rPr lang="en" sz="1300"/>
              <a:t>Maintain original functionality while adding the Trojan. Ensure the design is fully synthesizable.</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{vulnerability} : AES Key Leakage</a:t>
            </a:r>
            <a:endParaRPr sz="1300"/>
          </a:p>
          <a:p>
            <a:pPr indent="0" lvl="0" marL="0" rtl="0" algn="l">
              <a:lnSpc>
                <a:spcPct val="100000"/>
              </a:lnSpc>
              <a:spcBef>
                <a:spcPts val="0"/>
              </a:spcBef>
              <a:spcAft>
                <a:spcPts val="0"/>
              </a:spcAft>
              <a:buClr>
                <a:schemeClr val="dk1"/>
              </a:buClr>
              <a:buSzPts val="1100"/>
              <a:buFont typeface="Arial"/>
              <a:buNone/>
            </a:pPr>
            <a:r>
              <a:rPr lang="en" sz="1300"/>
              <a:t>{prompting_strategy} : Modify the AES design in a manner of your choosing to insert a hardware Trojan that leaks part or all of the secret key. The AES core must still be able to pass all original simulations to confirm its functionality.</a:t>
            </a:r>
            <a:endParaRPr sz="1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AES Key Leakage</a:t>
            </a:r>
            <a:endParaRPr/>
          </a:p>
          <a:p>
            <a:pPr indent="0" lvl="0" marL="0" rtl="0" algn="l">
              <a:spcBef>
                <a:spcPts val="0"/>
              </a:spcBef>
              <a:spcAft>
                <a:spcPts val="0"/>
              </a:spcAft>
              <a:buNone/>
            </a:pPr>
            <a:r>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n" sz="1300"/>
              <a:t>Trojan Generated:</a:t>
            </a:r>
            <a:endParaRPr sz="1300"/>
          </a:p>
          <a:p>
            <a:pPr indent="0" lvl="0" marL="0" rtl="0" algn="l">
              <a:lnSpc>
                <a:spcPct val="95000"/>
              </a:lnSpc>
              <a:spcBef>
                <a:spcPts val="1200"/>
              </a:spcBef>
              <a:spcAft>
                <a:spcPts val="0"/>
              </a:spcAft>
              <a:buSzPts val="770"/>
              <a:buNone/>
            </a:pPr>
            <a:r>
              <a:rPr lang="en" sz="1300"/>
              <a:t>A time-triggered Trojan leaks 16 bytes of the AES key, one byte per clock, via a covert output after 100 encryption/decryption operations; all normal outputs and behavior remain intact.</a:t>
            </a:r>
            <a:endParaRPr sz="1300"/>
          </a:p>
          <a:p>
            <a:pPr indent="0" lvl="0" marL="0" rtl="0" algn="l">
              <a:lnSpc>
                <a:spcPct val="95000"/>
              </a:lnSpc>
              <a:spcBef>
                <a:spcPts val="1200"/>
              </a:spcBef>
              <a:spcAft>
                <a:spcPts val="0"/>
              </a:spcAft>
              <a:buSzPts val="770"/>
              <a:buNone/>
            </a:pPr>
            <a:r>
              <a:rPr lang="en" sz="1300"/>
              <a:t>Taxonomy:</a:t>
            </a:r>
            <a:endParaRPr sz="1300"/>
          </a:p>
          <a:p>
            <a:pPr indent="0" lvl="0" marL="0" rtl="0" algn="l">
              <a:lnSpc>
                <a:spcPct val="100000"/>
              </a:lnSpc>
              <a:spcBef>
                <a:spcPts val="1200"/>
              </a:spcBef>
              <a:spcAft>
                <a:spcPts val="0"/>
              </a:spcAft>
              <a:buSzPts val="770"/>
              <a:buNone/>
            </a:pPr>
            <a:r>
              <a:rPr lang="en" sz="1300"/>
              <a:t>Insertion phase: Design  </a:t>
            </a:r>
            <a:endParaRPr sz="1300"/>
          </a:p>
          <a:p>
            <a:pPr indent="0" lvl="0" marL="0" rtl="0" algn="l">
              <a:lnSpc>
                <a:spcPct val="100000"/>
              </a:lnSpc>
              <a:spcBef>
                <a:spcPts val="0"/>
              </a:spcBef>
              <a:spcAft>
                <a:spcPts val="0"/>
              </a:spcAft>
              <a:buSzPts val="770"/>
              <a:buNone/>
            </a:pPr>
            <a:r>
              <a:rPr lang="en" sz="1300"/>
              <a:t>Abstraction level: Register-transfer level  </a:t>
            </a:r>
            <a:endParaRPr sz="1300"/>
          </a:p>
          <a:p>
            <a:pPr indent="0" lvl="0" marL="0" rtl="0" algn="l">
              <a:lnSpc>
                <a:spcPct val="100000"/>
              </a:lnSpc>
              <a:spcBef>
                <a:spcPts val="0"/>
              </a:spcBef>
              <a:spcAft>
                <a:spcPts val="0"/>
              </a:spcAft>
              <a:buSzPts val="770"/>
              <a:buNone/>
            </a:pPr>
            <a:r>
              <a:rPr lang="en" sz="1300"/>
              <a:t>Activation mechanism: Triggered internally (operation counter)  </a:t>
            </a:r>
            <a:endParaRPr sz="1300"/>
          </a:p>
          <a:p>
            <a:pPr indent="0" lvl="0" marL="0" rtl="0" algn="l">
              <a:lnSpc>
                <a:spcPct val="100000"/>
              </a:lnSpc>
              <a:spcBef>
                <a:spcPts val="0"/>
              </a:spcBef>
              <a:spcAft>
                <a:spcPts val="0"/>
              </a:spcAft>
              <a:buSzPts val="770"/>
              <a:buNone/>
            </a:pPr>
            <a:r>
              <a:rPr lang="en" sz="1300"/>
              <a:t>Effects: AES Key Leakage  </a:t>
            </a:r>
            <a:endParaRPr sz="1300"/>
          </a:p>
          <a:p>
            <a:pPr indent="0" lvl="0" marL="0" rtl="0" algn="l">
              <a:lnSpc>
                <a:spcPct val="100000"/>
              </a:lnSpc>
              <a:spcBef>
                <a:spcPts val="0"/>
              </a:spcBef>
              <a:spcAft>
                <a:spcPts val="0"/>
              </a:spcAft>
              <a:buSzPts val="770"/>
              <a:buNone/>
            </a:pPr>
            <a:r>
              <a:rPr lang="en" sz="1300"/>
              <a:t>Location: Processor datapath (RTL module, I/O port)  </a:t>
            </a:r>
            <a:endParaRPr sz="1300"/>
          </a:p>
          <a:p>
            <a:pPr indent="0" lvl="0" marL="0" rtl="0" algn="l">
              <a:lnSpc>
                <a:spcPct val="100000"/>
              </a:lnSpc>
              <a:spcBef>
                <a:spcPts val="0"/>
              </a:spcBef>
              <a:spcAft>
                <a:spcPts val="0"/>
              </a:spcAft>
              <a:buSzPts val="770"/>
              <a:buNone/>
            </a:pPr>
            <a:r>
              <a:rPr lang="en" sz="1300"/>
              <a:t>Characteristics: Small, distributed, functional Trojan (covert I/O)</a:t>
            </a:r>
            <a:endParaRPr sz="1300"/>
          </a:p>
          <a:p>
            <a:pPr indent="0" lvl="0" marL="0" rtl="0" algn="l">
              <a:lnSpc>
                <a:spcPct val="95000"/>
              </a:lnSpc>
              <a:spcBef>
                <a:spcPts val="0"/>
              </a:spcBef>
              <a:spcAft>
                <a:spcPts val="0"/>
              </a:spcAft>
              <a:buSzPts val="770"/>
              <a:buNone/>
            </a:pPr>
            <a:r>
              <a:t/>
            </a:r>
            <a:endParaRPr sz="1300"/>
          </a:p>
          <a:p>
            <a:pPr indent="0" lvl="0" marL="0" rtl="0" algn="l">
              <a:lnSpc>
                <a:spcPct val="95000"/>
              </a:lnSpc>
              <a:spcBef>
                <a:spcPts val="1200"/>
              </a:spcBef>
              <a:spcAft>
                <a:spcPts val="1200"/>
              </a:spcAft>
              <a:buSzPts val="770"/>
              <a:buNone/>
            </a:pPr>
            <a:r>
              <a:t/>
            </a:r>
            <a:endParaRPr sz="1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8"/>
          <p:cNvPicPr preferRelativeResize="0"/>
          <p:nvPr/>
        </p:nvPicPr>
        <p:blipFill>
          <a:blip r:embed="rId3">
            <a:alphaModFix/>
          </a:blip>
          <a:stretch>
            <a:fillRect/>
          </a:stretch>
        </p:blipFill>
        <p:spPr>
          <a:xfrm>
            <a:off x="4431026" y="445025"/>
            <a:ext cx="4712982" cy="4123849"/>
          </a:xfrm>
          <a:prstGeom prst="rect">
            <a:avLst/>
          </a:prstGeom>
          <a:noFill/>
          <a:ln cap="flat" cmpd="sng" w="9525">
            <a:solidFill>
              <a:schemeClr val="dk2"/>
            </a:solidFill>
            <a:prstDash val="solid"/>
            <a:round/>
            <a:headEnd len="sm" w="sm" type="none"/>
            <a:tailEnd len="sm" w="sm" type="none"/>
          </a:ln>
        </p:spPr>
      </p:pic>
      <p:pic>
        <p:nvPicPr>
          <p:cNvPr id="85" name="Google Shape;85;p18"/>
          <p:cNvPicPr preferRelativeResize="0"/>
          <p:nvPr/>
        </p:nvPicPr>
        <p:blipFill>
          <a:blip r:embed="rId4">
            <a:alphaModFix/>
          </a:blip>
          <a:stretch>
            <a:fillRect/>
          </a:stretch>
        </p:blipFill>
        <p:spPr>
          <a:xfrm>
            <a:off x="0" y="3448250"/>
            <a:ext cx="4315574" cy="1120625"/>
          </a:xfrm>
          <a:prstGeom prst="rect">
            <a:avLst/>
          </a:prstGeom>
          <a:noFill/>
          <a:ln cap="flat" cmpd="sng" w="9525">
            <a:solidFill>
              <a:schemeClr val="dk2"/>
            </a:solidFill>
            <a:prstDash val="solid"/>
            <a:round/>
            <a:headEnd len="sm" w="sm" type="none"/>
            <a:tailEnd len="sm" w="sm" type="none"/>
          </a:ln>
        </p:spPr>
      </p:pic>
      <p:sp>
        <p:nvSpPr>
          <p:cNvPr id="86" name="Google Shape;86;p18"/>
          <p:cNvSpPr txBox="1"/>
          <p:nvPr/>
        </p:nvSpPr>
        <p:spPr>
          <a:xfrm>
            <a:off x="-12" y="1542025"/>
            <a:ext cx="40983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300">
                <a:solidFill>
                  <a:schemeClr val="dk2"/>
                </a:solidFill>
              </a:rPr>
              <a:t>I generated a testbench using Gemini Pro 2.5 which mimicked the structure of the testbench provided in</a:t>
            </a:r>
            <a:endParaRPr sz="1300">
              <a:solidFill>
                <a:schemeClr val="dk2"/>
              </a:solidFill>
            </a:endParaRPr>
          </a:p>
          <a:p>
            <a:pPr indent="0" lvl="0" marL="0" rtl="0" algn="l">
              <a:spcBef>
                <a:spcPts val="0"/>
              </a:spcBef>
              <a:spcAft>
                <a:spcPts val="0"/>
              </a:spcAft>
              <a:buClr>
                <a:schemeClr val="dk1"/>
              </a:buClr>
              <a:buSzPts val="1100"/>
              <a:buFont typeface="Arial"/>
              <a:buNone/>
            </a:pPr>
            <a:r>
              <a:rPr lang="en" sz="1300">
                <a:solidFill>
                  <a:schemeClr val="dk2"/>
                </a:solidFill>
              </a:rPr>
              <a:t>the CSAW repo. The testbench triggered the specific condition needed for the trojan to be activated. It</a:t>
            </a:r>
            <a:endParaRPr sz="1300">
              <a:solidFill>
                <a:schemeClr val="dk2"/>
              </a:solidFill>
            </a:endParaRPr>
          </a:p>
          <a:p>
            <a:pPr indent="0" lvl="0" marL="0" rtl="0" algn="l">
              <a:spcBef>
                <a:spcPts val="0"/>
              </a:spcBef>
              <a:spcAft>
                <a:spcPts val="0"/>
              </a:spcAft>
              <a:buClr>
                <a:schemeClr val="dk1"/>
              </a:buClr>
              <a:buSzPts val="1100"/>
              <a:buFont typeface="Arial"/>
              <a:buNone/>
            </a:pPr>
            <a:r>
              <a:rPr lang="en" sz="1300">
                <a:solidFill>
                  <a:schemeClr val="dk2"/>
                </a:solidFill>
              </a:rPr>
              <a:t>then reset the module and ran the golden testbench cases, which passed without trojan detection, and then reset one final time to trigger the trojan.</a:t>
            </a:r>
            <a:endParaRPr sz="1300">
              <a:solidFill>
                <a:schemeClr val="dk2"/>
              </a:solidFill>
            </a:endParaRPr>
          </a:p>
          <a:p>
            <a:pPr indent="0" lvl="0" marL="0" rtl="0" algn="l">
              <a:spcBef>
                <a:spcPts val="0"/>
              </a:spcBef>
              <a:spcAft>
                <a:spcPts val="0"/>
              </a:spcAft>
              <a:buNone/>
            </a:pPr>
            <a:r>
              <a:t/>
            </a:r>
            <a:endParaRPr sz="1300">
              <a:solidFill>
                <a:schemeClr val="dk2"/>
              </a:solidFill>
            </a:endParaRPr>
          </a:p>
        </p:txBody>
      </p:sp>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AES Key Leakage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AES DOS</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300"/>
              <a:t>Objective: Modify the AES design to create a DoS Trojan which will completely halt the AES operation after 862 encryptions have been performed. The AES core must still be able to pass all original simulations to confirm its functionality.</a:t>
            </a:r>
            <a:endParaRPr sz="1300"/>
          </a:p>
          <a:p>
            <a:pPr indent="0" lvl="0" marL="0" rtl="0" algn="l">
              <a:lnSpc>
                <a:spcPct val="100000"/>
              </a:lnSpc>
              <a:spcBef>
                <a:spcPts val="1200"/>
              </a:spcBef>
              <a:spcAft>
                <a:spcPts val="0"/>
              </a:spcAft>
              <a:buClr>
                <a:schemeClr val="dk1"/>
              </a:buClr>
              <a:buSzPts val="1100"/>
              <a:buFont typeface="Arial"/>
              <a:buNone/>
            </a:pPr>
            <a:r>
              <a:rPr lang="en" sz="1300"/>
              <a:t>Prompt: </a:t>
            </a:r>
            <a:endParaRPr sz="1300"/>
          </a:p>
          <a:p>
            <a:pPr indent="0" lvl="0" marL="0" rtl="0" algn="l">
              <a:lnSpc>
                <a:spcPct val="100000"/>
              </a:lnSpc>
              <a:spcBef>
                <a:spcPts val="0"/>
              </a:spcBef>
              <a:spcAft>
                <a:spcPts val="0"/>
              </a:spcAft>
              <a:buClr>
                <a:schemeClr val="dk1"/>
              </a:buClr>
              <a:buSzPts val="1100"/>
              <a:buFont typeface="Arial"/>
              <a:buNone/>
            </a:pPr>
            <a:r>
              <a:rPr lang="en" sz="1300"/>
              <a:t>You are an expert skilled in hardware design and verification.</a:t>
            </a:r>
            <a:endParaRPr sz="1300"/>
          </a:p>
          <a:p>
            <a:pPr indent="0" lvl="0" marL="0" rtl="0" algn="l">
              <a:lnSpc>
                <a:spcPct val="100000"/>
              </a:lnSpc>
              <a:spcBef>
                <a:spcPts val="0"/>
              </a:spcBef>
              <a:spcAft>
                <a:spcPts val="0"/>
              </a:spcAft>
              <a:buClr>
                <a:schemeClr val="dk1"/>
              </a:buClr>
              <a:buSzPts val="1100"/>
              <a:buFont typeface="Arial"/>
              <a:buNone/>
            </a:pPr>
            <a:r>
              <a:rPr lang="en" sz="1300"/>
              <a:t>Analyze and modify the following Verilog code to insert a hardware Trojan: </a:t>
            </a:r>
            <a:endParaRPr sz="1300"/>
          </a:p>
          <a:p>
            <a:pPr indent="0" lvl="0" marL="0" rtl="0" algn="l">
              <a:lnSpc>
                <a:spcPct val="100000"/>
              </a:lnSpc>
              <a:spcBef>
                <a:spcPts val="0"/>
              </a:spcBef>
              <a:spcAft>
                <a:spcPts val="0"/>
              </a:spcAft>
              <a:buClr>
                <a:schemeClr val="dk1"/>
              </a:buClr>
              <a:buSzPts val="1100"/>
              <a:buFont typeface="Arial"/>
              <a:buNone/>
            </a:pPr>
            <a:r>
              <a:rPr lang="en" sz="1300"/>
              <a:t>&lt;{design}&gt;</a:t>
            </a:r>
            <a:endParaRPr sz="1300"/>
          </a:p>
          <a:p>
            <a:pPr indent="0" lvl="0" marL="0" rtl="0" algn="l">
              <a:lnSpc>
                <a:spcPct val="100000"/>
              </a:lnSpc>
              <a:spcBef>
                <a:spcPts val="0"/>
              </a:spcBef>
              <a:spcAft>
                <a:spcPts val="0"/>
              </a:spcAft>
              <a:buClr>
                <a:schemeClr val="dk1"/>
              </a:buClr>
              <a:buSzPts val="1100"/>
              <a:buFont typeface="Arial"/>
              <a:buNone/>
            </a:pPr>
            <a:r>
              <a:rPr lang="en" sz="1300"/>
              <a:t>Task: Insert a {vulnerability} Trojan using this strategy: {prompting_strategy}</a:t>
            </a:r>
            <a:endParaRPr sz="1300"/>
          </a:p>
          <a:p>
            <a:pPr indent="0" lvl="0" marL="0" rtl="0" algn="l">
              <a:lnSpc>
                <a:spcPct val="100000"/>
              </a:lnSpc>
              <a:spcBef>
                <a:spcPts val="0"/>
              </a:spcBef>
              <a:spcAft>
                <a:spcPts val="0"/>
              </a:spcAft>
              <a:buClr>
                <a:schemeClr val="dk1"/>
              </a:buClr>
              <a:buSzPts val="1100"/>
              <a:buFont typeface="Arial"/>
              <a:buNone/>
            </a:pPr>
            <a:r>
              <a:rPr lang="en" sz="1300"/>
              <a:t>Maintain original functionality while adding the Trojan. Ensure the design is fully synthesizable.</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en" sz="1300"/>
              <a:t>{vulnerability} : AES Denial of Service (DoS)</a:t>
            </a:r>
            <a:endParaRPr sz="1300"/>
          </a:p>
          <a:p>
            <a:pPr indent="0" lvl="0" marL="0" rtl="0" algn="l">
              <a:lnSpc>
                <a:spcPct val="100000"/>
              </a:lnSpc>
              <a:spcBef>
                <a:spcPts val="0"/>
              </a:spcBef>
              <a:spcAft>
                <a:spcPts val="0"/>
              </a:spcAft>
              <a:buClr>
                <a:schemeClr val="dk1"/>
              </a:buClr>
              <a:buSzPts val="1100"/>
              <a:buFont typeface="Arial"/>
              <a:buNone/>
            </a:pPr>
            <a:r>
              <a:rPr lang="en" sz="1300"/>
              <a:t>{prompting_strategy} : Modify the AES design to create a DoS Trojan which will completely halt the AES operation after 862 encryptions have been performed. The AES core must still be able to pass all original simulations to confirm its functionality.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AES DOS</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300"/>
              <a:t>Trojan Generated:</a:t>
            </a:r>
            <a:endParaRPr sz="1300"/>
          </a:p>
          <a:p>
            <a:pPr indent="0" lvl="0" marL="0" rtl="0" algn="l">
              <a:lnSpc>
                <a:spcPct val="100000"/>
              </a:lnSpc>
              <a:spcBef>
                <a:spcPts val="0"/>
              </a:spcBef>
              <a:spcAft>
                <a:spcPts val="0"/>
              </a:spcAft>
              <a:buNone/>
            </a:pPr>
            <a:r>
              <a:rPr lang="en" sz="1300"/>
              <a:t>The Trojan employs a 10-bit counter to silently count the number of encryption operations; when 862 encryptions are reached, a disable flag is triggered. Once active, the Trojan permanently halts AES operation by forcing 'ready' low and 'result_valid' low, denying all further outputs.</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Taxonomy:</a:t>
            </a:r>
            <a:endParaRPr sz="1300"/>
          </a:p>
          <a:p>
            <a:pPr indent="0" lvl="0" marL="0" rtl="0" algn="l">
              <a:lnSpc>
                <a:spcPct val="100000"/>
              </a:lnSpc>
              <a:spcBef>
                <a:spcPts val="0"/>
              </a:spcBef>
              <a:spcAft>
                <a:spcPts val="0"/>
              </a:spcAft>
              <a:buNone/>
            </a:pPr>
            <a:r>
              <a:rPr lang="en" sz="1300"/>
              <a:t>Insertion phase: Design  </a:t>
            </a:r>
            <a:endParaRPr sz="1300"/>
          </a:p>
          <a:p>
            <a:pPr indent="0" lvl="0" marL="0" rtl="0" algn="l">
              <a:lnSpc>
                <a:spcPct val="100000"/>
              </a:lnSpc>
              <a:spcBef>
                <a:spcPts val="0"/>
              </a:spcBef>
              <a:spcAft>
                <a:spcPts val="0"/>
              </a:spcAft>
              <a:buNone/>
            </a:pPr>
            <a:r>
              <a:rPr lang="en" sz="1300"/>
              <a:t>Abstraction level: Register-transfer level  </a:t>
            </a:r>
            <a:endParaRPr sz="1300"/>
          </a:p>
          <a:p>
            <a:pPr indent="0" lvl="0" marL="0" rtl="0" algn="l">
              <a:lnSpc>
                <a:spcPct val="100000"/>
              </a:lnSpc>
              <a:spcBef>
                <a:spcPts val="0"/>
              </a:spcBef>
              <a:spcAft>
                <a:spcPts val="0"/>
              </a:spcAft>
              <a:buNone/>
            </a:pPr>
            <a:r>
              <a:rPr lang="en" sz="1300"/>
              <a:t>Activation mechanism: Triggered internally (event-count based, always-on after trigger)  </a:t>
            </a:r>
            <a:endParaRPr sz="1300"/>
          </a:p>
          <a:p>
            <a:pPr indent="0" lvl="0" marL="0" rtl="0" algn="l">
              <a:lnSpc>
                <a:spcPct val="100000"/>
              </a:lnSpc>
              <a:spcBef>
                <a:spcPts val="0"/>
              </a:spcBef>
              <a:spcAft>
                <a:spcPts val="0"/>
              </a:spcAft>
              <a:buNone/>
            </a:pPr>
            <a:r>
              <a:rPr lang="en" sz="1300"/>
              <a:t>Effects: AES Denial of Service (DoS)  </a:t>
            </a:r>
            <a:endParaRPr sz="1300"/>
          </a:p>
          <a:p>
            <a:pPr indent="0" lvl="0" marL="0" rtl="0" algn="l">
              <a:lnSpc>
                <a:spcPct val="100000"/>
              </a:lnSpc>
              <a:spcBef>
                <a:spcPts val="0"/>
              </a:spcBef>
              <a:spcAft>
                <a:spcPts val="0"/>
              </a:spcAft>
              <a:buNone/>
            </a:pPr>
            <a:r>
              <a:rPr lang="en" sz="1300"/>
              <a:t>Location: Processor core datapath/control FSM  </a:t>
            </a:r>
            <a:endParaRPr sz="1300"/>
          </a:p>
          <a:p>
            <a:pPr indent="0" lvl="0" marL="0" rtl="0" algn="l">
              <a:lnSpc>
                <a:spcPct val="100000"/>
              </a:lnSpc>
              <a:spcBef>
                <a:spcPts val="0"/>
              </a:spcBef>
              <a:spcAft>
                <a:spcPts val="0"/>
              </a:spcAft>
              <a:buNone/>
            </a:pPr>
            <a:r>
              <a:rPr lang="en" sz="1300"/>
              <a:t>Characteristics: Distributed (minor logic additions), Small size, Functional Trojan</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t/>
            </a:r>
            <a:endParaRPr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nvSpPr>
        <p:spPr>
          <a:xfrm>
            <a:off x="-12" y="1542025"/>
            <a:ext cx="40983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I generated a testbench using Gemini Pro 2.5 which mimicked the structure of the testbench provided in</a:t>
            </a:r>
            <a:endParaRPr sz="1300">
              <a:solidFill>
                <a:schemeClr val="dk2"/>
              </a:solidFill>
            </a:endParaRPr>
          </a:p>
          <a:p>
            <a:pPr indent="0" lvl="0" marL="0" rtl="0" algn="l">
              <a:spcBef>
                <a:spcPts val="0"/>
              </a:spcBef>
              <a:spcAft>
                <a:spcPts val="0"/>
              </a:spcAft>
              <a:buNone/>
            </a:pPr>
            <a:r>
              <a:rPr lang="en" sz="1300">
                <a:solidFill>
                  <a:schemeClr val="dk2"/>
                </a:solidFill>
              </a:rPr>
              <a:t>the CSAW repo. The testbench triggered the specific condition needed for the trojan to be activated. It</a:t>
            </a:r>
            <a:endParaRPr sz="1300">
              <a:solidFill>
                <a:schemeClr val="dk2"/>
              </a:solidFill>
            </a:endParaRPr>
          </a:p>
          <a:p>
            <a:pPr indent="0" lvl="0" marL="0" rtl="0" algn="l">
              <a:spcBef>
                <a:spcPts val="0"/>
              </a:spcBef>
              <a:spcAft>
                <a:spcPts val="0"/>
              </a:spcAft>
              <a:buNone/>
            </a:pPr>
            <a:r>
              <a:rPr lang="en" sz="1300">
                <a:solidFill>
                  <a:schemeClr val="dk2"/>
                </a:solidFill>
              </a:rPr>
              <a:t>then reset the module and ran the golden testbench cases, which passed without trojan detection, and then reset one final time to trigger the trojan.</a:t>
            </a:r>
            <a:endParaRPr sz="1300">
              <a:solidFill>
                <a:schemeClr val="dk2"/>
              </a:solidFill>
            </a:endParaRPr>
          </a:p>
          <a:p>
            <a:pPr indent="0" lvl="0" marL="0" rtl="0" algn="l">
              <a:spcBef>
                <a:spcPts val="0"/>
              </a:spcBef>
              <a:spcAft>
                <a:spcPts val="0"/>
              </a:spcAft>
              <a:buNone/>
            </a:pPr>
            <a:r>
              <a:t/>
            </a:r>
            <a:endParaRPr sz="1300">
              <a:solidFill>
                <a:schemeClr val="dk2"/>
              </a:solidFill>
            </a:endParaRPr>
          </a:p>
        </p:txBody>
      </p:sp>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AES DOS</a:t>
            </a:r>
            <a:endParaRPr/>
          </a:p>
        </p:txBody>
      </p:sp>
      <p:pic>
        <p:nvPicPr>
          <p:cNvPr id="106" name="Google Shape;106;p21"/>
          <p:cNvPicPr preferRelativeResize="0"/>
          <p:nvPr/>
        </p:nvPicPr>
        <p:blipFill>
          <a:blip r:embed="rId3">
            <a:alphaModFix/>
          </a:blip>
          <a:stretch>
            <a:fillRect/>
          </a:stretch>
        </p:blipFill>
        <p:spPr>
          <a:xfrm>
            <a:off x="4198938" y="875875"/>
            <a:ext cx="4740912" cy="3117897"/>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Wishbone DOS</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sz="1300"/>
              <a:t>Objective: Modify the UART core to halt the operation after the following 4 bytes have been consecutively received via UART RX: 0x02, 0x05, 0x02, 0x09. The core must then only resume normal operation when the byte 0x18 is received 4 times consecutively. The core must still be able to pass all oritinal simulations to confirm its functionality.</a:t>
            </a:r>
            <a:endParaRPr sz="1300"/>
          </a:p>
          <a:p>
            <a:pPr indent="0" lvl="0" marL="0" rtl="0" algn="l">
              <a:lnSpc>
                <a:spcPct val="100000"/>
              </a:lnSpc>
              <a:spcBef>
                <a:spcPts val="1200"/>
              </a:spcBef>
              <a:spcAft>
                <a:spcPts val="0"/>
              </a:spcAft>
              <a:buClr>
                <a:schemeClr val="dk1"/>
              </a:buClr>
              <a:buSzPts val="1100"/>
              <a:buFont typeface="Arial"/>
              <a:buNone/>
            </a:pPr>
            <a:r>
              <a:rPr lang="en" sz="1300"/>
              <a:t>Prompt: </a:t>
            </a:r>
            <a:endParaRPr sz="1300"/>
          </a:p>
          <a:p>
            <a:pPr indent="0" lvl="0" marL="0" rtl="0" algn="l">
              <a:lnSpc>
                <a:spcPct val="100000"/>
              </a:lnSpc>
              <a:spcBef>
                <a:spcPts val="0"/>
              </a:spcBef>
              <a:spcAft>
                <a:spcPts val="0"/>
              </a:spcAft>
              <a:buClr>
                <a:schemeClr val="dk1"/>
              </a:buClr>
              <a:buSzPts val="1100"/>
              <a:buFont typeface="Arial"/>
              <a:buNone/>
            </a:pPr>
            <a:r>
              <a:rPr lang="en" sz="1300"/>
              <a:t>You are an expert skilled in hardware design and verification.</a:t>
            </a:r>
            <a:endParaRPr sz="1300"/>
          </a:p>
          <a:p>
            <a:pPr indent="0" lvl="0" marL="0" rtl="0" algn="l">
              <a:lnSpc>
                <a:spcPct val="100000"/>
              </a:lnSpc>
              <a:spcBef>
                <a:spcPts val="0"/>
              </a:spcBef>
              <a:spcAft>
                <a:spcPts val="0"/>
              </a:spcAft>
              <a:buClr>
                <a:schemeClr val="dk1"/>
              </a:buClr>
              <a:buSzPts val="1100"/>
              <a:buFont typeface="Arial"/>
              <a:buNone/>
            </a:pPr>
            <a:r>
              <a:rPr lang="en" sz="1300"/>
              <a:t>Analyze and modify the following Verilog code to insert a hardware Trojan: </a:t>
            </a:r>
            <a:endParaRPr sz="1300"/>
          </a:p>
          <a:p>
            <a:pPr indent="0" lvl="0" marL="0" rtl="0" algn="l">
              <a:lnSpc>
                <a:spcPct val="100000"/>
              </a:lnSpc>
              <a:spcBef>
                <a:spcPts val="0"/>
              </a:spcBef>
              <a:spcAft>
                <a:spcPts val="0"/>
              </a:spcAft>
              <a:buClr>
                <a:schemeClr val="dk1"/>
              </a:buClr>
              <a:buSzPts val="1100"/>
              <a:buFont typeface="Arial"/>
              <a:buNone/>
            </a:pPr>
            <a:r>
              <a:rPr lang="en" sz="1300"/>
              <a:t>&lt;{design}&gt;</a:t>
            </a:r>
            <a:endParaRPr sz="1300"/>
          </a:p>
          <a:p>
            <a:pPr indent="0" lvl="0" marL="0" rtl="0" algn="l">
              <a:lnSpc>
                <a:spcPct val="100000"/>
              </a:lnSpc>
              <a:spcBef>
                <a:spcPts val="0"/>
              </a:spcBef>
              <a:spcAft>
                <a:spcPts val="0"/>
              </a:spcAft>
              <a:buClr>
                <a:schemeClr val="dk1"/>
              </a:buClr>
              <a:buSzPts val="1100"/>
              <a:buFont typeface="Arial"/>
              <a:buNone/>
            </a:pPr>
            <a:r>
              <a:rPr lang="en" sz="1300"/>
              <a:t>Task: Insert a {vulnerability} Trojan using this strategy: {prompting_strategy}</a:t>
            </a:r>
            <a:endParaRPr sz="1300"/>
          </a:p>
          <a:p>
            <a:pPr indent="0" lvl="0" marL="0" rtl="0" algn="l">
              <a:lnSpc>
                <a:spcPct val="100000"/>
              </a:lnSpc>
              <a:spcBef>
                <a:spcPts val="0"/>
              </a:spcBef>
              <a:spcAft>
                <a:spcPts val="0"/>
              </a:spcAft>
              <a:buClr>
                <a:schemeClr val="dk1"/>
              </a:buClr>
              <a:buSzPts val="1100"/>
              <a:buFont typeface="Arial"/>
              <a:buNone/>
            </a:pPr>
            <a:r>
              <a:rPr lang="en" sz="1300"/>
              <a:t>Maintain original functionality while adding the Trojan. Ensure the design is fully synthesizable.</a:t>
            </a:r>
            <a:endParaRPr sz="1300"/>
          </a:p>
          <a:p>
            <a:pPr indent="0" lvl="0" marL="0" rtl="0" algn="l">
              <a:lnSpc>
                <a:spcPct val="100000"/>
              </a:lnSpc>
              <a:spcBef>
                <a:spcPts val="0"/>
              </a:spcBef>
              <a:spcAft>
                <a:spcPts val="0"/>
              </a:spcAft>
              <a:buClr>
                <a:schemeClr val="dk1"/>
              </a:buClr>
              <a:buSzPts val="1100"/>
              <a:buFont typeface="Arial"/>
              <a:buNone/>
            </a:pPr>
            <a:r>
              <a:t/>
            </a:r>
            <a:endParaRPr sz="1300"/>
          </a:p>
          <a:p>
            <a:pPr indent="0" lvl="0" marL="0" rtl="0" algn="l">
              <a:lnSpc>
                <a:spcPct val="100000"/>
              </a:lnSpc>
              <a:spcBef>
                <a:spcPts val="0"/>
              </a:spcBef>
              <a:spcAft>
                <a:spcPts val="0"/>
              </a:spcAft>
              <a:buClr>
                <a:schemeClr val="dk1"/>
              </a:buClr>
              <a:buSzPts val="1100"/>
              <a:buFont typeface="Arial"/>
              <a:buNone/>
            </a:pPr>
            <a:r>
              <a:rPr lang="en" sz="1300"/>
              <a:t>{vulnerability} : Wishbone Bus DoS </a:t>
            </a:r>
            <a:endParaRPr sz="1300"/>
          </a:p>
          <a:p>
            <a:pPr indent="0" lvl="0" marL="0" rtl="0" algn="l">
              <a:lnSpc>
                <a:spcPct val="100000"/>
              </a:lnSpc>
              <a:spcBef>
                <a:spcPts val="0"/>
              </a:spcBef>
              <a:spcAft>
                <a:spcPts val="0"/>
              </a:spcAft>
              <a:buClr>
                <a:schemeClr val="dk1"/>
              </a:buClr>
              <a:buSzPts val="1100"/>
              <a:buFont typeface="Arial"/>
              <a:buNone/>
            </a:pPr>
            <a:r>
              <a:rPr lang="en" sz="1300"/>
              <a:t>{prompting_strategy} : Modify the UART core to halt the operation after the following 4 bytes have been consecutively received via UART RX: 0x02, 0x05, 0x02, 0x09. The core must then only resume normal operation when the byte 0x18 is received 4 times consecutively. The core must still be able to pass all oritinal simulations to confirm its functionality.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Wishbone DOS</a:t>
            </a:r>
            <a:endParaRPr/>
          </a:p>
          <a:p>
            <a:pPr indent="0" lvl="0" marL="0" rtl="0" algn="l">
              <a:spcBef>
                <a:spcPts val="0"/>
              </a:spcBef>
              <a:spcAft>
                <a:spcPts val="0"/>
              </a:spcAft>
              <a:buNone/>
            </a:pPr>
            <a:r>
              <a:t/>
            </a:r>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300"/>
              <a:t>Trojan Generated:</a:t>
            </a:r>
            <a:endParaRPr sz="1300"/>
          </a:p>
          <a:p>
            <a:pPr indent="0" lvl="0" marL="0" rtl="0" algn="l">
              <a:lnSpc>
                <a:spcPct val="100000"/>
              </a:lnSpc>
              <a:spcBef>
                <a:spcPts val="0"/>
              </a:spcBef>
              <a:spcAft>
                <a:spcPts val="0"/>
              </a:spcAft>
              <a:buNone/>
            </a:pPr>
            <a:r>
              <a:rPr lang="en" sz="1300"/>
              <a:t>Inserted a 2-bit FSM that monitors the UART RX path for a 4-byte trigger sequence and disables Wishbone WBAK responses when armed; the Trojan's state resets on 4×0xfe bytes. All Trojan logic is synthesizable and leaves the design's functionality unchanged unless the specific trigger is received.</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Taxonomy:</a:t>
            </a:r>
            <a:endParaRPr sz="1300"/>
          </a:p>
          <a:p>
            <a:pPr indent="0" lvl="0" marL="0" rtl="0" algn="l">
              <a:lnSpc>
                <a:spcPct val="100000"/>
              </a:lnSpc>
              <a:spcBef>
                <a:spcPts val="0"/>
              </a:spcBef>
              <a:spcAft>
                <a:spcPts val="0"/>
              </a:spcAft>
              <a:buNone/>
            </a:pPr>
            <a:r>
              <a:rPr lang="en" sz="1300"/>
              <a:t>Insertion phase: Design  </a:t>
            </a:r>
            <a:endParaRPr sz="1300"/>
          </a:p>
          <a:p>
            <a:pPr indent="0" lvl="0" marL="0" rtl="0" algn="l">
              <a:lnSpc>
                <a:spcPct val="100000"/>
              </a:lnSpc>
              <a:spcBef>
                <a:spcPts val="0"/>
              </a:spcBef>
              <a:spcAft>
                <a:spcPts val="0"/>
              </a:spcAft>
              <a:buNone/>
            </a:pPr>
            <a:r>
              <a:rPr lang="en" sz="1300"/>
              <a:t>Abstraction level: Register-transfer level  </a:t>
            </a:r>
            <a:endParaRPr sz="1300"/>
          </a:p>
          <a:p>
            <a:pPr indent="0" lvl="0" marL="0" rtl="0" algn="l">
              <a:lnSpc>
                <a:spcPct val="100000"/>
              </a:lnSpc>
              <a:spcBef>
                <a:spcPts val="0"/>
              </a:spcBef>
              <a:spcAft>
                <a:spcPts val="0"/>
              </a:spcAft>
              <a:buNone/>
            </a:pPr>
            <a:r>
              <a:rPr lang="en" sz="1300"/>
              <a:t>Activation mechanism: Triggered externally (via UART RX sequence)  </a:t>
            </a:r>
            <a:endParaRPr sz="1300"/>
          </a:p>
          <a:p>
            <a:pPr indent="0" lvl="0" marL="0" rtl="0" algn="l">
              <a:lnSpc>
                <a:spcPct val="100000"/>
              </a:lnSpc>
              <a:spcBef>
                <a:spcPts val="0"/>
              </a:spcBef>
              <a:spcAft>
                <a:spcPts val="0"/>
              </a:spcAft>
              <a:buNone/>
            </a:pPr>
            <a:r>
              <a:rPr lang="en" sz="1300"/>
              <a:t>Effects: Wishbone Bus DoS  </a:t>
            </a:r>
            <a:endParaRPr sz="1300"/>
          </a:p>
          <a:p>
            <a:pPr indent="0" lvl="0" marL="0" rtl="0" algn="l">
              <a:lnSpc>
                <a:spcPct val="100000"/>
              </a:lnSpc>
              <a:spcBef>
                <a:spcPts val="0"/>
              </a:spcBef>
              <a:spcAft>
                <a:spcPts val="0"/>
              </a:spcAft>
              <a:buNone/>
            </a:pPr>
            <a:r>
              <a:rPr lang="en" sz="1300"/>
              <a:t>Location: I/O (UART RX/Wishbone Bus interface)  </a:t>
            </a:r>
            <a:endParaRPr sz="1300"/>
          </a:p>
          <a:p>
            <a:pPr indent="0" lvl="0" marL="0" rtl="0" algn="l">
              <a:lnSpc>
                <a:spcPct val="100000"/>
              </a:lnSpc>
              <a:spcBef>
                <a:spcPts val="0"/>
              </a:spcBef>
              <a:spcAft>
                <a:spcPts val="0"/>
              </a:spcAft>
              <a:buNone/>
            </a:pPr>
            <a:r>
              <a:rPr lang="en" sz="1300"/>
              <a:t>Characteristics: Centralized, very small FSM, Functional Trojan</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t/>
            </a:r>
            <a:endParaRPr sz="1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nvSpPr>
        <p:spPr>
          <a:xfrm>
            <a:off x="-12" y="1049413"/>
            <a:ext cx="40983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I generated a testbench using Gemini Pro 2.5 which mimicked the structure of the testbench provided in</a:t>
            </a:r>
            <a:endParaRPr sz="1300">
              <a:solidFill>
                <a:schemeClr val="dk2"/>
              </a:solidFill>
            </a:endParaRPr>
          </a:p>
          <a:p>
            <a:pPr indent="0" lvl="0" marL="0" rtl="0" algn="l">
              <a:spcBef>
                <a:spcPts val="0"/>
              </a:spcBef>
              <a:spcAft>
                <a:spcPts val="0"/>
              </a:spcAft>
              <a:buNone/>
            </a:pPr>
            <a:r>
              <a:rPr lang="en" sz="1300">
                <a:solidFill>
                  <a:schemeClr val="dk2"/>
                </a:solidFill>
              </a:rPr>
              <a:t>the CSAW repo. The testbench triggered the specific condition needed for the trojan to be activated. It</a:t>
            </a:r>
            <a:endParaRPr sz="1300">
              <a:solidFill>
                <a:schemeClr val="dk2"/>
              </a:solidFill>
            </a:endParaRPr>
          </a:p>
          <a:p>
            <a:pPr indent="0" lvl="0" marL="0" rtl="0" algn="l">
              <a:spcBef>
                <a:spcPts val="0"/>
              </a:spcBef>
              <a:spcAft>
                <a:spcPts val="0"/>
              </a:spcAft>
              <a:buNone/>
            </a:pPr>
            <a:r>
              <a:rPr lang="en" sz="1300">
                <a:solidFill>
                  <a:schemeClr val="dk2"/>
                </a:solidFill>
              </a:rPr>
              <a:t>then reset the module and ran the golden testbench cases, which passed without trojan detection, and then reset one final time to trigger the trojan.</a:t>
            </a:r>
            <a:endParaRPr sz="1300">
              <a:solidFill>
                <a:schemeClr val="dk2"/>
              </a:solidFill>
            </a:endParaRPr>
          </a:p>
          <a:p>
            <a:pPr indent="0" lvl="0" marL="0" rtl="0" algn="l">
              <a:spcBef>
                <a:spcPts val="0"/>
              </a:spcBef>
              <a:spcAft>
                <a:spcPts val="0"/>
              </a:spcAft>
              <a:buNone/>
            </a:pPr>
            <a:r>
              <a:t/>
            </a:r>
            <a:endParaRPr sz="1300">
              <a:solidFill>
                <a:schemeClr val="dk2"/>
              </a:solidFill>
            </a:endParaRPr>
          </a:p>
        </p:txBody>
      </p:sp>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Wishbone DOS</a:t>
            </a:r>
            <a:endParaRPr/>
          </a:p>
          <a:p>
            <a:pPr indent="0" lvl="0" marL="0" rtl="0" algn="l">
              <a:spcBef>
                <a:spcPts val="0"/>
              </a:spcBef>
              <a:spcAft>
                <a:spcPts val="0"/>
              </a:spcAft>
              <a:buNone/>
            </a:pPr>
            <a:r>
              <a:t/>
            </a:r>
            <a:endParaRPr/>
          </a:p>
        </p:txBody>
      </p:sp>
      <p:pic>
        <p:nvPicPr>
          <p:cNvPr id="125" name="Google Shape;125;p24"/>
          <p:cNvPicPr preferRelativeResize="0"/>
          <p:nvPr/>
        </p:nvPicPr>
        <p:blipFill>
          <a:blip r:embed="rId3">
            <a:alphaModFix/>
          </a:blip>
          <a:stretch>
            <a:fillRect/>
          </a:stretch>
        </p:blipFill>
        <p:spPr>
          <a:xfrm>
            <a:off x="94350" y="2866725"/>
            <a:ext cx="3661799" cy="2182766"/>
          </a:xfrm>
          <a:prstGeom prst="rect">
            <a:avLst/>
          </a:prstGeom>
          <a:noFill/>
          <a:ln cap="flat" cmpd="sng" w="9525">
            <a:solidFill>
              <a:schemeClr val="dk2"/>
            </a:solidFill>
            <a:prstDash val="solid"/>
            <a:round/>
            <a:headEnd len="sm" w="sm" type="none"/>
            <a:tailEnd len="sm" w="sm" type="none"/>
          </a:ln>
        </p:spPr>
      </p:pic>
      <p:pic>
        <p:nvPicPr>
          <p:cNvPr id="126" name="Google Shape;126;p24"/>
          <p:cNvPicPr preferRelativeResize="0"/>
          <p:nvPr/>
        </p:nvPicPr>
        <p:blipFill>
          <a:blip r:embed="rId4">
            <a:alphaModFix/>
          </a:blip>
          <a:stretch>
            <a:fillRect/>
          </a:stretch>
        </p:blipFill>
        <p:spPr>
          <a:xfrm>
            <a:off x="4361150" y="0"/>
            <a:ext cx="2463933" cy="932875"/>
          </a:xfrm>
          <a:prstGeom prst="rect">
            <a:avLst/>
          </a:prstGeom>
          <a:noFill/>
          <a:ln cap="flat" cmpd="sng" w="9525">
            <a:solidFill>
              <a:schemeClr val="dk2"/>
            </a:solidFill>
            <a:prstDash val="solid"/>
            <a:round/>
            <a:headEnd len="sm" w="sm" type="none"/>
            <a:tailEnd len="sm" w="sm" type="none"/>
          </a:ln>
        </p:spPr>
      </p:pic>
      <p:pic>
        <p:nvPicPr>
          <p:cNvPr id="127" name="Google Shape;127;p24"/>
          <p:cNvPicPr preferRelativeResize="0"/>
          <p:nvPr/>
        </p:nvPicPr>
        <p:blipFill>
          <a:blip r:embed="rId5">
            <a:alphaModFix/>
          </a:blip>
          <a:stretch>
            <a:fillRect/>
          </a:stretch>
        </p:blipFill>
        <p:spPr>
          <a:xfrm>
            <a:off x="4361138" y="976333"/>
            <a:ext cx="3273507" cy="2803830"/>
          </a:xfrm>
          <a:prstGeom prst="rect">
            <a:avLst/>
          </a:prstGeom>
          <a:noFill/>
          <a:ln cap="flat" cmpd="sng" w="9525">
            <a:solidFill>
              <a:schemeClr val="dk2"/>
            </a:solidFill>
            <a:prstDash val="solid"/>
            <a:round/>
            <a:headEnd len="sm" w="sm" type="none"/>
            <a:tailEnd len="sm" w="sm" type="none"/>
          </a:ln>
        </p:spPr>
      </p:pic>
      <p:pic>
        <p:nvPicPr>
          <p:cNvPr id="128" name="Google Shape;128;p24"/>
          <p:cNvPicPr preferRelativeResize="0"/>
          <p:nvPr/>
        </p:nvPicPr>
        <p:blipFill>
          <a:blip r:embed="rId6">
            <a:alphaModFix/>
          </a:blip>
          <a:stretch>
            <a:fillRect/>
          </a:stretch>
        </p:blipFill>
        <p:spPr>
          <a:xfrm>
            <a:off x="4361150" y="3823625"/>
            <a:ext cx="3086687" cy="13198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Wishbone </a:t>
            </a:r>
            <a:r>
              <a:rPr lang="en"/>
              <a:t>Change of Functionality</a:t>
            </a:r>
            <a:endParaRPr/>
          </a:p>
        </p:txBody>
      </p:sp>
      <p:sp>
        <p:nvSpPr>
          <p:cNvPr id="134" name="Google Shape;13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t>Objective: </a:t>
            </a:r>
            <a:r>
              <a:rPr lang="en" sz="1300"/>
              <a:t>Modify the Wishbone-UART core to change the functionality of the device. After the UART receives the btye 0xaf three time it should then always write the recieved UART byte to the data register in reverse (for example, after the Trojan triggers if it receives the byte 0xb2 it should write 0x4d to the data register.</a:t>
            </a:r>
            <a:endParaRPr sz="1300"/>
          </a:p>
          <a:p>
            <a:pPr indent="0" lvl="0" marL="0" rtl="0" algn="l">
              <a:lnSpc>
                <a:spcPct val="100000"/>
              </a:lnSpc>
              <a:spcBef>
                <a:spcPts val="1200"/>
              </a:spcBef>
              <a:spcAft>
                <a:spcPts val="0"/>
              </a:spcAft>
              <a:buNone/>
            </a:pPr>
            <a:r>
              <a:rPr lang="en" sz="1300"/>
              <a:t>Prompt: </a:t>
            </a:r>
            <a:endParaRPr sz="1300"/>
          </a:p>
          <a:p>
            <a:pPr indent="0" lvl="0" marL="0" rtl="0" algn="l">
              <a:lnSpc>
                <a:spcPct val="100000"/>
              </a:lnSpc>
              <a:spcBef>
                <a:spcPts val="0"/>
              </a:spcBef>
              <a:spcAft>
                <a:spcPts val="0"/>
              </a:spcAft>
              <a:buNone/>
            </a:pPr>
            <a:r>
              <a:rPr lang="en" sz="1300"/>
              <a:t>You are an expert skilled in hardware design and verification.</a:t>
            </a:r>
            <a:endParaRPr sz="1300"/>
          </a:p>
          <a:p>
            <a:pPr indent="0" lvl="0" marL="0" rtl="0" algn="l">
              <a:lnSpc>
                <a:spcPct val="100000"/>
              </a:lnSpc>
              <a:spcBef>
                <a:spcPts val="0"/>
              </a:spcBef>
              <a:spcAft>
                <a:spcPts val="0"/>
              </a:spcAft>
              <a:buNone/>
            </a:pPr>
            <a:r>
              <a:rPr lang="en" sz="1300"/>
              <a:t>Analyze and modify the following Verilog code to insert a hardware Trojan: </a:t>
            </a:r>
            <a:endParaRPr sz="1300"/>
          </a:p>
          <a:p>
            <a:pPr indent="0" lvl="0" marL="0" rtl="0" algn="l">
              <a:lnSpc>
                <a:spcPct val="100000"/>
              </a:lnSpc>
              <a:spcBef>
                <a:spcPts val="0"/>
              </a:spcBef>
              <a:spcAft>
                <a:spcPts val="0"/>
              </a:spcAft>
              <a:buNone/>
            </a:pPr>
            <a:r>
              <a:rPr lang="en" sz="1300"/>
              <a:t>&lt;{design}&gt;</a:t>
            </a:r>
            <a:endParaRPr sz="1300"/>
          </a:p>
          <a:p>
            <a:pPr indent="0" lvl="0" marL="0" rtl="0" algn="l">
              <a:lnSpc>
                <a:spcPct val="100000"/>
              </a:lnSpc>
              <a:spcBef>
                <a:spcPts val="0"/>
              </a:spcBef>
              <a:spcAft>
                <a:spcPts val="0"/>
              </a:spcAft>
              <a:buNone/>
            </a:pPr>
            <a:r>
              <a:rPr lang="en" sz="1300"/>
              <a:t>Task: Insert a {vulnerability} Trojan using this strategy: {prompting_strategy}</a:t>
            </a:r>
            <a:endParaRPr sz="1300"/>
          </a:p>
          <a:p>
            <a:pPr indent="0" lvl="0" marL="0" rtl="0" algn="l">
              <a:lnSpc>
                <a:spcPct val="100000"/>
              </a:lnSpc>
              <a:spcBef>
                <a:spcPts val="0"/>
              </a:spcBef>
              <a:spcAft>
                <a:spcPts val="0"/>
              </a:spcAft>
              <a:buNone/>
            </a:pPr>
            <a:r>
              <a:rPr lang="en" sz="1300"/>
              <a:t>Maintain original functionality while adding the Trojan. Ensure the design is fully synthesizable.</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{vulnerability} : </a:t>
            </a:r>
            <a:r>
              <a:rPr lang="en" sz="1300"/>
              <a:t>UART Functionality Change</a:t>
            </a:r>
            <a:r>
              <a:rPr lang="en" sz="1300"/>
              <a:t> </a:t>
            </a:r>
            <a:endParaRPr sz="1300"/>
          </a:p>
          <a:p>
            <a:pPr indent="0" lvl="0" marL="0" rtl="0" algn="l">
              <a:lnSpc>
                <a:spcPct val="100000"/>
              </a:lnSpc>
              <a:spcBef>
                <a:spcPts val="0"/>
              </a:spcBef>
              <a:spcAft>
                <a:spcPts val="0"/>
              </a:spcAft>
              <a:buNone/>
            </a:pPr>
            <a:r>
              <a:rPr lang="en" sz="1300"/>
              <a:t>{prompting_strategy} : </a:t>
            </a:r>
            <a:r>
              <a:rPr lang="en" sz="1300"/>
              <a:t>Modify the Wishbone-UART core to change the functionality of the device. After the UART receives the btye 0xaf three time it should then always write the recieved UART byte to the data register in reverse (for example, after the Trojan triggers if it receives the byte 0xb2 it should write 0x4d to the data register.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Wishbone </a:t>
            </a:r>
            <a:r>
              <a:rPr lang="en"/>
              <a:t>Change of Functionality</a:t>
            </a:r>
            <a:endParaRPr/>
          </a:p>
          <a:p>
            <a:pPr indent="0" lvl="0" marL="0" rtl="0" algn="l">
              <a:spcBef>
                <a:spcPts val="0"/>
              </a:spcBef>
              <a:spcAft>
                <a:spcPts val="0"/>
              </a:spcAft>
              <a:buNone/>
            </a:pPr>
            <a:r>
              <a:t/>
            </a:r>
            <a:endParaRPr/>
          </a:p>
        </p:txBody>
      </p:sp>
      <p:sp>
        <p:nvSpPr>
          <p:cNvPr id="140" name="Google Shape;140;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300"/>
              <a:t>Trojan Generated:</a:t>
            </a:r>
            <a:endParaRPr sz="1300"/>
          </a:p>
          <a:p>
            <a:pPr indent="0" lvl="0" marL="0" rtl="0" algn="l">
              <a:lnSpc>
                <a:spcPct val="100000"/>
              </a:lnSpc>
              <a:spcBef>
                <a:spcPts val="0"/>
              </a:spcBef>
              <a:spcAft>
                <a:spcPts val="0"/>
              </a:spcAft>
              <a:buNone/>
            </a:pPr>
            <a:r>
              <a:rPr lang="en" sz="1300"/>
              <a:t>A hardware Trojan was added which, after receiving the byte 0xAF three times, causes all subsequently received UART bytes to be presented on the Wishbone bus in bit-reversed order. Registers track the trigger sequence and, once activated, the payload alters only the RX data path, leaving all else unchanged.</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Taxonomy:</a:t>
            </a:r>
            <a:endParaRPr sz="1300"/>
          </a:p>
          <a:p>
            <a:pPr indent="0" lvl="0" marL="0" rtl="0" algn="l">
              <a:lnSpc>
                <a:spcPct val="100000"/>
              </a:lnSpc>
              <a:spcBef>
                <a:spcPts val="0"/>
              </a:spcBef>
              <a:spcAft>
                <a:spcPts val="0"/>
              </a:spcAft>
              <a:buNone/>
            </a:pPr>
            <a:r>
              <a:rPr lang="en" sz="1300"/>
              <a:t>I</a:t>
            </a:r>
            <a:r>
              <a:rPr lang="en" sz="1300"/>
              <a:t>nsertion phase: Design  </a:t>
            </a:r>
            <a:endParaRPr sz="1300"/>
          </a:p>
          <a:p>
            <a:pPr indent="0" lvl="0" marL="0" rtl="0" algn="l">
              <a:lnSpc>
                <a:spcPct val="100000"/>
              </a:lnSpc>
              <a:spcBef>
                <a:spcPts val="0"/>
              </a:spcBef>
              <a:spcAft>
                <a:spcPts val="0"/>
              </a:spcAft>
              <a:buNone/>
            </a:pPr>
            <a:r>
              <a:rPr lang="en" sz="1300"/>
              <a:t>Abstraction level: Register-transfer level  </a:t>
            </a:r>
            <a:endParaRPr sz="1300"/>
          </a:p>
          <a:p>
            <a:pPr indent="0" lvl="0" marL="0" rtl="0" algn="l">
              <a:lnSpc>
                <a:spcPct val="100000"/>
              </a:lnSpc>
              <a:spcBef>
                <a:spcPts val="0"/>
              </a:spcBef>
              <a:spcAft>
                <a:spcPts val="0"/>
              </a:spcAft>
              <a:buNone/>
            </a:pPr>
            <a:r>
              <a:rPr lang="en" sz="1300"/>
              <a:t>Activation mechanism: Triggered internally (by RX data pattern)  </a:t>
            </a:r>
            <a:endParaRPr sz="1300"/>
          </a:p>
          <a:p>
            <a:pPr indent="0" lvl="0" marL="0" rtl="0" algn="l">
              <a:lnSpc>
                <a:spcPct val="100000"/>
              </a:lnSpc>
              <a:spcBef>
                <a:spcPts val="0"/>
              </a:spcBef>
              <a:spcAft>
                <a:spcPts val="0"/>
              </a:spcAft>
              <a:buNone/>
            </a:pPr>
            <a:r>
              <a:rPr lang="en" sz="1300"/>
              <a:t>Effects: UART Functionality Change  </a:t>
            </a:r>
            <a:endParaRPr sz="1300"/>
          </a:p>
          <a:p>
            <a:pPr indent="0" lvl="0" marL="0" rtl="0" algn="l">
              <a:lnSpc>
                <a:spcPct val="100000"/>
              </a:lnSpc>
              <a:spcBef>
                <a:spcPts val="0"/>
              </a:spcBef>
              <a:spcAft>
                <a:spcPts val="0"/>
              </a:spcAft>
              <a:buNone/>
            </a:pPr>
            <a:r>
              <a:rPr lang="en" sz="1300"/>
              <a:t>Location: I/O (UART RX data path)  </a:t>
            </a:r>
            <a:endParaRPr sz="1300"/>
          </a:p>
          <a:p>
            <a:pPr indent="0" lvl="0" marL="0" rtl="0" algn="l">
              <a:lnSpc>
                <a:spcPct val="100000"/>
              </a:lnSpc>
              <a:spcBef>
                <a:spcPts val="0"/>
              </a:spcBef>
              <a:spcAft>
                <a:spcPts val="0"/>
              </a:spcAft>
              <a:buNone/>
            </a:pPr>
            <a:r>
              <a:rPr lang="en" sz="1300"/>
              <a:t>Characteristics: Localized, small, Functional</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t/>
            </a:r>
            <a:endParaRPr sz="13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nvSpPr>
        <p:spPr>
          <a:xfrm>
            <a:off x="-12" y="1049413"/>
            <a:ext cx="40983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I generated a testbench using Gemini Pro 2.5 which mimicked the structure of the testbench provided in</a:t>
            </a:r>
            <a:endParaRPr sz="1300">
              <a:solidFill>
                <a:schemeClr val="dk2"/>
              </a:solidFill>
            </a:endParaRPr>
          </a:p>
          <a:p>
            <a:pPr indent="0" lvl="0" marL="0" rtl="0" algn="l">
              <a:spcBef>
                <a:spcPts val="0"/>
              </a:spcBef>
              <a:spcAft>
                <a:spcPts val="0"/>
              </a:spcAft>
              <a:buNone/>
            </a:pPr>
            <a:r>
              <a:rPr lang="en" sz="1300">
                <a:solidFill>
                  <a:schemeClr val="dk2"/>
                </a:solidFill>
              </a:rPr>
              <a:t>the CSAW repo. The testbench triggered the specific condition needed for the trojan to be activated. It</a:t>
            </a:r>
            <a:endParaRPr sz="1300">
              <a:solidFill>
                <a:schemeClr val="dk2"/>
              </a:solidFill>
            </a:endParaRPr>
          </a:p>
          <a:p>
            <a:pPr indent="0" lvl="0" marL="0" rtl="0" algn="l">
              <a:spcBef>
                <a:spcPts val="0"/>
              </a:spcBef>
              <a:spcAft>
                <a:spcPts val="0"/>
              </a:spcAft>
              <a:buNone/>
            </a:pPr>
            <a:r>
              <a:rPr lang="en" sz="1300">
                <a:solidFill>
                  <a:schemeClr val="dk2"/>
                </a:solidFill>
              </a:rPr>
              <a:t>then reset the module and ran the golden testbench cases, which passed without trojan detection, and then reset one final time to trigger the trojan.</a:t>
            </a:r>
            <a:endParaRPr sz="1300">
              <a:solidFill>
                <a:schemeClr val="dk2"/>
              </a:solidFill>
            </a:endParaRPr>
          </a:p>
          <a:p>
            <a:pPr indent="0" lvl="0" marL="0" rtl="0" algn="l">
              <a:spcBef>
                <a:spcPts val="0"/>
              </a:spcBef>
              <a:spcAft>
                <a:spcPts val="0"/>
              </a:spcAft>
              <a:buNone/>
            </a:pPr>
            <a:r>
              <a:t/>
            </a:r>
            <a:endParaRPr sz="1300">
              <a:solidFill>
                <a:schemeClr val="dk2"/>
              </a:solidFill>
            </a:endParaRPr>
          </a:p>
        </p:txBody>
      </p:sp>
      <p:sp>
        <p:nvSpPr>
          <p:cNvPr id="146" name="Google Shape;14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Wishbone </a:t>
            </a:r>
            <a:r>
              <a:rPr lang="en"/>
              <a:t>Change of Functionality</a:t>
            </a:r>
            <a:endParaRPr/>
          </a:p>
          <a:p>
            <a:pPr indent="0" lvl="0" marL="0" rtl="0" algn="l">
              <a:spcBef>
                <a:spcPts val="0"/>
              </a:spcBef>
              <a:spcAft>
                <a:spcPts val="0"/>
              </a:spcAft>
              <a:buNone/>
            </a:pPr>
            <a:r>
              <a:t/>
            </a:r>
            <a:endParaRPr/>
          </a:p>
        </p:txBody>
      </p:sp>
      <p:pic>
        <p:nvPicPr>
          <p:cNvPr id="147" name="Google Shape;147;p27"/>
          <p:cNvPicPr preferRelativeResize="0"/>
          <p:nvPr/>
        </p:nvPicPr>
        <p:blipFill>
          <a:blip r:embed="rId3">
            <a:alphaModFix/>
          </a:blip>
          <a:stretch>
            <a:fillRect/>
          </a:stretch>
        </p:blipFill>
        <p:spPr>
          <a:xfrm>
            <a:off x="94350" y="2866725"/>
            <a:ext cx="3661799" cy="2182766"/>
          </a:xfrm>
          <a:prstGeom prst="rect">
            <a:avLst/>
          </a:prstGeom>
          <a:noFill/>
          <a:ln cap="flat" cmpd="sng" w="9525">
            <a:solidFill>
              <a:schemeClr val="dk2"/>
            </a:solidFill>
            <a:prstDash val="solid"/>
            <a:round/>
            <a:headEnd len="sm" w="sm" type="none"/>
            <a:tailEnd len="sm" w="sm" type="none"/>
          </a:ln>
        </p:spPr>
      </p:pic>
      <p:pic>
        <p:nvPicPr>
          <p:cNvPr id="148" name="Google Shape;148;p27"/>
          <p:cNvPicPr preferRelativeResize="0"/>
          <p:nvPr/>
        </p:nvPicPr>
        <p:blipFill>
          <a:blip r:embed="rId4">
            <a:alphaModFix/>
          </a:blip>
          <a:stretch>
            <a:fillRect/>
          </a:stretch>
        </p:blipFill>
        <p:spPr>
          <a:xfrm>
            <a:off x="5606413" y="249075"/>
            <a:ext cx="3174840" cy="3820976"/>
          </a:xfrm>
          <a:prstGeom prst="rect">
            <a:avLst/>
          </a:prstGeom>
          <a:noFill/>
          <a:ln>
            <a:noFill/>
          </a:ln>
        </p:spPr>
      </p:pic>
      <p:pic>
        <p:nvPicPr>
          <p:cNvPr id="149" name="Google Shape;149;p27"/>
          <p:cNvPicPr preferRelativeResize="0"/>
          <p:nvPr/>
        </p:nvPicPr>
        <p:blipFill>
          <a:blip r:embed="rId5">
            <a:alphaModFix/>
          </a:blip>
          <a:stretch>
            <a:fillRect/>
          </a:stretch>
        </p:blipFill>
        <p:spPr>
          <a:xfrm>
            <a:off x="5606425" y="4070050"/>
            <a:ext cx="3309674" cy="881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Challenge 2</a:t>
            </a:r>
            <a:endParaRPr/>
          </a:p>
        </p:txBody>
      </p:sp>
      <p:sp>
        <p:nvSpPr>
          <p:cNvPr id="155" name="Google Shape;155;p2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OpenTitan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UART DOS</a:t>
            </a:r>
            <a:endParaRPr/>
          </a:p>
          <a:p>
            <a:pPr indent="0" lvl="0" marL="0" rtl="0" algn="l">
              <a:spcBef>
                <a:spcPts val="0"/>
              </a:spcBef>
              <a:spcAft>
                <a:spcPts val="0"/>
              </a:spcAft>
              <a:buNone/>
            </a:pPr>
            <a:r>
              <a:t/>
            </a:r>
            <a:endParaRPr/>
          </a:p>
        </p:txBody>
      </p:sp>
      <p:sp>
        <p:nvSpPr>
          <p:cNvPr id="161" name="Google Shape;161;p29"/>
          <p:cNvSpPr txBox="1"/>
          <p:nvPr>
            <p:ph idx="1" type="body"/>
          </p:nvPr>
        </p:nvSpPr>
        <p:spPr>
          <a:xfrm>
            <a:off x="311700" y="1152475"/>
            <a:ext cx="7915800" cy="3030300"/>
          </a:xfrm>
          <a:prstGeom prst="rect">
            <a:avLst/>
          </a:prstGeom>
        </p:spPr>
        <p:txBody>
          <a:bodyPr anchorCtr="0" anchor="t" bIns="91425" lIns="91425" spcFirstLastPara="1" rIns="91425" wrap="square" tIns="91425">
            <a:normAutofit fontScale="77500" lnSpcReduction="20000"/>
          </a:bodyPr>
          <a:lstStyle/>
          <a:p>
            <a:pPr indent="0" lvl="0" marL="0" rtl="0" algn="l">
              <a:lnSpc>
                <a:spcPct val="100000"/>
              </a:lnSpc>
              <a:spcBef>
                <a:spcPts val="0"/>
              </a:spcBef>
              <a:spcAft>
                <a:spcPts val="0"/>
              </a:spcAft>
              <a:buNone/>
            </a:pPr>
            <a:r>
              <a:rPr lang="en" sz="1300"/>
              <a:t>Explanation:</a:t>
            </a:r>
            <a:endParaRPr sz="1300"/>
          </a:p>
          <a:p>
            <a:pPr indent="0" lvl="0" marL="0" rtl="0" algn="l">
              <a:lnSpc>
                <a:spcPct val="100000"/>
              </a:lnSpc>
              <a:spcBef>
                <a:spcPts val="0"/>
              </a:spcBef>
              <a:spcAft>
                <a:spcPts val="0"/>
              </a:spcAft>
              <a:buNone/>
            </a:pPr>
            <a:r>
              <a:rPr lang="en" sz="1300"/>
              <a:t>A synthesizable state machine is added to detect the byte sequence 0x02, 0x05, 0x02, 0x09 (via RX). Upon detection, all UART operations are halted by gating enable/data signals with a "troj_halt" flag until four consecutive 0x18 bytes are received, at which point normal function resumes.</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Trigger:</a:t>
            </a:r>
            <a:endParaRPr sz="1300"/>
          </a:p>
          <a:p>
            <a:pPr indent="0" lvl="0" marL="0" rtl="0" algn="l">
              <a:lnSpc>
                <a:spcPct val="100000"/>
              </a:lnSpc>
              <a:spcBef>
                <a:spcPts val="0"/>
              </a:spcBef>
              <a:spcAft>
                <a:spcPts val="0"/>
              </a:spcAft>
              <a:buNone/>
            </a:pPr>
            <a:r>
              <a:rPr lang="en" sz="1300"/>
              <a:t>The Trojan is triggered when the core receives the four-byte pattern (0x02, 0x05, 0x02, 0x09) via sequential UART RX with no intervening bytes or errors; it is deactivated only after receiving four consecutive 0x18 bytes via RX.</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Payload:</a:t>
            </a:r>
            <a:endParaRPr sz="1300"/>
          </a:p>
          <a:p>
            <a:pPr indent="0" lvl="0" marL="0" rtl="0" algn="l">
              <a:lnSpc>
                <a:spcPct val="100000"/>
              </a:lnSpc>
              <a:spcBef>
                <a:spcPts val="0"/>
              </a:spcBef>
              <a:spcAft>
                <a:spcPts val="0"/>
              </a:spcAft>
              <a:buNone/>
            </a:pPr>
            <a:r>
              <a:rPr lang="en" sz="1300"/>
              <a:t>When triggered, the Trojan halts all UART operations: no RX/TX transfers or interrupts can occur ("hardware DoS"); this persists until the explicit secret release sequence is received, after which full normal operation resumes.</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Taxonomy:</a:t>
            </a:r>
            <a:endParaRPr sz="1300"/>
          </a:p>
          <a:p>
            <a:pPr indent="0" lvl="0" marL="0" rtl="0" algn="l">
              <a:lnSpc>
                <a:spcPct val="100000"/>
              </a:lnSpc>
              <a:spcBef>
                <a:spcPts val="0"/>
              </a:spcBef>
              <a:spcAft>
                <a:spcPts val="0"/>
              </a:spcAft>
              <a:buNone/>
            </a:pPr>
            <a:r>
              <a:rPr lang="en" sz="1300"/>
              <a:t>Insertion phase: Design  </a:t>
            </a:r>
            <a:endParaRPr sz="1300"/>
          </a:p>
          <a:p>
            <a:pPr indent="0" lvl="0" marL="0" rtl="0" algn="l">
              <a:lnSpc>
                <a:spcPct val="100000"/>
              </a:lnSpc>
              <a:spcBef>
                <a:spcPts val="0"/>
              </a:spcBef>
              <a:spcAft>
                <a:spcPts val="0"/>
              </a:spcAft>
              <a:buNone/>
            </a:pPr>
            <a:r>
              <a:rPr lang="en" sz="1300"/>
              <a:t>Abstraction level: Register-transfer level  </a:t>
            </a:r>
            <a:endParaRPr sz="1300"/>
          </a:p>
          <a:p>
            <a:pPr indent="0" lvl="0" marL="0" rtl="0" algn="l">
              <a:lnSpc>
                <a:spcPct val="100000"/>
              </a:lnSpc>
              <a:spcBef>
                <a:spcPts val="0"/>
              </a:spcBef>
              <a:spcAft>
                <a:spcPts val="0"/>
              </a:spcAft>
              <a:buNone/>
            </a:pPr>
            <a:r>
              <a:rPr lang="en" sz="1300"/>
              <a:t>Activation mechanism: Triggered internally (secret 4-byte UART RX code, released by 4-byte sequence)  </a:t>
            </a:r>
            <a:endParaRPr sz="1300"/>
          </a:p>
          <a:p>
            <a:pPr indent="0" lvl="0" marL="0" rtl="0" algn="l">
              <a:lnSpc>
                <a:spcPct val="100000"/>
              </a:lnSpc>
              <a:spcBef>
                <a:spcPts val="0"/>
              </a:spcBef>
              <a:spcAft>
                <a:spcPts val="0"/>
              </a:spcAft>
              <a:buNone/>
            </a:pPr>
            <a:r>
              <a:rPr lang="en" sz="1300"/>
              <a:t>Effects: Wishbone Bus DoS  </a:t>
            </a:r>
            <a:endParaRPr sz="1300"/>
          </a:p>
          <a:p>
            <a:pPr indent="0" lvl="0" marL="0" rtl="0" algn="l">
              <a:lnSpc>
                <a:spcPct val="100000"/>
              </a:lnSpc>
              <a:spcBef>
                <a:spcPts val="0"/>
              </a:spcBef>
              <a:spcAft>
                <a:spcPts val="0"/>
              </a:spcAft>
              <a:buNone/>
            </a:pPr>
            <a:r>
              <a:rPr lang="en" sz="1300"/>
              <a:t>Location: I/O (UART Core)  </a:t>
            </a:r>
            <a:endParaRPr sz="1300"/>
          </a:p>
          <a:p>
            <a:pPr indent="0" lvl="0" marL="0" rtl="0" algn="l">
              <a:lnSpc>
                <a:spcPct val="100000"/>
              </a:lnSpc>
              <a:spcBef>
                <a:spcPts val="0"/>
              </a:spcBef>
              <a:spcAft>
                <a:spcPts val="0"/>
              </a:spcAft>
              <a:buNone/>
            </a:pPr>
            <a:r>
              <a:rPr lang="en" sz="1300"/>
              <a:t>Characteristics: Distributed, Small, Functional Trojan</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Result: the original testbench does not catch the trojan we inserted into the UART RTL Files</a:t>
            </a:r>
            <a:endParaRPr sz="1300"/>
          </a:p>
          <a:p>
            <a:pPr indent="0" lvl="0" marL="0" rtl="0" algn="l">
              <a:lnSpc>
                <a:spcPct val="100000"/>
              </a:lnSpc>
              <a:spcBef>
                <a:spcPts val="0"/>
              </a:spcBef>
              <a:spcAft>
                <a:spcPts val="0"/>
              </a:spcAft>
              <a:buNone/>
            </a:pPr>
            <a:r>
              <a:t/>
            </a:r>
            <a:endParaRPr sz="1300"/>
          </a:p>
        </p:txBody>
      </p:sp>
      <p:pic>
        <p:nvPicPr>
          <p:cNvPr id="162" name="Google Shape;162;p29"/>
          <p:cNvPicPr preferRelativeResize="0"/>
          <p:nvPr/>
        </p:nvPicPr>
        <p:blipFill>
          <a:blip r:embed="rId3">
            <a:alphaModFix/>
          </a:blip>
          <a:stretch>
            <a:fillRect/>
          </a:stretch>
        </p:blipFill>
        <p:spPr>
          <a:xfrm>
            <a:off x="5044950" y="3537875"/>
            <a:ext cx="3929975" cy="1442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AES Key Leakage</a:t>
            </a:r>
            <a:endParaRPr/>
          </a:p>
        </p:txBody>
      </p:sp>
      <p:sp>
        <p:nvSpPr>
          <p:cNvPr id="168" name="Google Shape;168;p30"/>
          <p:cNvSpPr txBox="1"/>
          <p:nvPr>
            <p:ph idx="1" type="body"/>
          </p:nvPr>
        </p:nvSpPr>
        <p:spPr>
          <a:xfrm>
            <a:off x="311700" y="1152475"/>
            <a:ext cx="7222500" cy="2592000"/>
          </a:xfrm>
          <a:prstGeom prst="rect">
            <a:avLst/>
          </a:prstGeom>
        </p:spPr>
        <p:txBody>
          <a:bodyPr anchorCtr="0" anchor="t" bIns="91425" lIns="91425" spcFirstLastPara="1" rIns="91425" wrap="square" tIns="91425">
            <a:normAutofit fontScale="70000" lnSpcReduction="20000"/>
          </a:bodyPr>
          <a:lstStyle/>
          <a:p>
            <a:pPr indent="0" lvl="0" marL="0" rtl="0" algn="l">
              <a:lnSpc>
                <a:spcPct val="100000"/>
              </a:lnSpc>
              <a:spcBef>
                <a:spcPts val="0"/>
              </a:spcBef>
              <a:spcAft>
                <a:spcPts val="0"/>
              </a:spcAft>
              <a:buNone/>
            </a:pPr>
            <a:r>
              <a:rPr lang="en" sz="1300"/>
              <a:t>Explanation:</a:t>
            </a:r>
            <a:endParaRPr sz="1300"/>
          </a:p>
          <a:p>
            <a:pPr indent="0" lvl="0" marL="0" rtl="0" algn="l">
              <a:lnSpc>
                <a:spcPct val="100000"/>
              </a:lnSpc>
              <a:spcBef>
                <a:spcPts val="0"/>
              </a:spcBef>
              <a:spcAft>
                <a:spcPts val="0"/>
              </a:spcAft>
              <a:buNone/>
            </a:pPr>
            <a:r>
              <a:rPr lang="en" sz="1300"/>
              <a:t>A Trojan was inserted to leak 32 bits of the AES key by capturing it into an internal register and exposing it through the unused_alert_signals output, triggered after 1024 encrypt operations. This maintains all normal AES functionality and does not affect simulation, as unused_alert_signals is not checked in functional tests.</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Trigger:</a:t>
            </a:r>
            <a:endParaRPr sz="1300"/>
          </a:p>
          <a:p>
            <a:pPr indent="0" lvl="0" marL="0" rtl="0" algn="l">
              <a:lnSpc>
                <a:spcPct val="100000"/>
              </a:lnSpc>
              <a:spcBef>
                <a:spcPts val="0"/>
              </a:spcBef>
              <a:spcAft>
                <a:spcPts val="0"/>
              </a:spcAft>
              <a:buNone/>
            </a:pPr>
            <a:r>
              <a:rPr lang="en" sz="1300"/>
              <a:t>The Trojan activates after 1024 AES encryption operations (as counted by a hidden counter driven by AES_ENC mode).</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Payload:</a:t>
            </a:r>
            <a:endParaRPr sz="1300"/>
          </a:p>
          <a:p>
            <a:pPr indent="0" lvl="0" marL="0" rtl="0" algn="l">
              <a:lnSpc>
                <a:spcPct val="100000"/>
              </a:lnSpc>
              <a:spcBef>
                <a:spcPts val="0"/>
              </a:spcBef>
              <a:spcAft>
                <a:spcPts val="0"/>
              </a:spcAft>
              <a:buNone/>
            </a:pPr>
            <a:r>
              <a:rPr lang="en" sz="1300"/>
              <a:t>Once triggered, the first 32 bits of the AES key (or XOR of key shares if masked) are XOR-ed onto the unused_alert_signals output, covertly leaking the key bitwise.</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Taxonomy:</a:t>
            </a:r>
            <a:endParaRPr sz="1300"/>
          </a:p>
          <a:p>
            <a:pPr indent="0" lvl="0" marL="0" rtl="0" algn="l">
              <a:lnSpc>
                <a:spcPct val="100000"/>
              </a:lnSpc>
              <a:spcBef>
                <a:spcPts val="0"/>
              </a:spcBef>
              <a:spcAft>
                <a:spcPts val="0"/>
              </a:spcAft>
              <a:buNone/>
            </a:pPr>
            <a:r>
              <a:rPr lang="en" sz="1300"/>
              <a:t>Insertion phase: Design  </a:t>
            </a:r>
            <a:endParaRPr sz="1300"/>
          </a:p>
          <a:p>
            <a:pPr indent="0" lvl="0" marL="0" rtl="0" algn="l">
              <a:lnSpc>
                <a:spcPct val="100000"/>
              </a:lnSpc>
              <a:spcBef>
                <a:spcPts val="0"/>
              </a:spcBef>
              <a:spcAft>
                <a:spcPts val="0"/>
              </a:spcAft>
              <a:buNone/>
            </a:pPr>
            <a:r>
              <a:rPr lang="en" sz="1300"/>
              <a:t>Abstraction level: Register-transfer level  </a:t>
            </a:r>
            <a:endParaRPr sz="1300"/>
          </a:p>
          <a:p>
            <a:pPr indent="0" lvl="0" marL="0" rtl="0" algn="l">
              <a:lnSpc>
                <a:spcPct val="100000"/>
              </a:lnSpc>
              <a:spcBef>
                <a:spcPts val="0"/>
              </a:spcBef>
              <a:spcAft>
                <a:spcPts val="0"/>
              </a:spcAft>
              <a:buNone/>
            </a:pPr>
            <a:r>
              <a:rPr lang="en" sz="1300"/>
              <a:t>Activation mechanism: Triggered internally (operation count)  </a:t>
            </a:r>
            <a:endParaRPr sz="1300"/>
          </a:p>
          <a:p>
            <a:pPr indent="0" lvl="0" marL="0" rtl="0" algn="l">
              <a:lnSpc>
                <a:spcPct val="100000"/>
              </a:lnSpc>
              <a:spcBef>
                <a:spcPts val="0"/>
              </a:spcBef>
              <a:spcAft>
                <a:spcPts val="0"/>
              </a:spcAft>
              <a:buNone/>
            </a:pPr>
            <a:r>
              <a:rPr lang="en" sz="1300"/>
              <a:t>Effects: AES Key Leakage  </a:t>
            </a:r>
            <a:endParaRPr sz="1300"/>
          </a:p>
          <a:p>
            <a:pPr indent="0" lvl="0" marL="0" rtl="0" algn="l">
              <a:lnSpc>
                <a:spcPct val="100000"/>
              </a:lnSpc>
              <a:spcBef>
                <a:spcPts val="0"/>
              </a:spcBef>
              <a:spcAft>
                <a:spcPts val="0"/>
              </a:spcAft>
              <a:buNone/>
            </a:pPr>
            <a:r>
              <a:rPr lang="en" sz="1300"/>
              <a:t>Location: Control/data logic inside the AES core (I/O path alias)  </a:t>
            </a:r>
            <a:endParaRPr sz="1300"/>
          </a:p>
          <a:p>
            <a:pPr indent="0" lvl="0" marL="0" rtl="0" algn="l">
              <a:lnSpc>
                <a:spcPct val="100000"/>
              </a:lnSpc>
              <a:spcBef>
                <a:spcPts val="0"/>
              </a:spcBef>
              <a:spcAft>
                <a:spcPts val="0"/>
              </a:spcAft>
              <a:buNone/>
            </a:pPr>
            <a:r>
              <a:rPr lang="en" sz="1300"/>
              <a:t>Characteristics: Single-point, small in size, functional type (covert key leak)</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Result: the original testbench does not catch the trojan we inserted into the UART RTL Files</a:t>
            </a:r>
            <a:endParaRPr sz="1300"/>
          </a:p>
        </p:txBody>
      </p:sp>
      <p:pic>
        <p:nvPicPr>
          <p:cNvPr id="169" name="Google Shape;169;p30"/>
          <p:cNvPicPr preferRelativeResize="0"/>
          <p:nvPr/>
        </p:nvPicPr>
        <p:blipFill>
          <a:blip r:embed="rId3">
            <a:alphaModFix/>
          </a:blip>
          <a:stretch>
            <a:fillRect/>
          </a:stretch>
        </p:blipFill>
        <p:spPr>
          <a:xfrm>
            <a:off x="4830325" y="2778800"/>
            <a:ext cx="4190225" cy="2239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DMA Access Corruption</a:t>
            </a:r>
            <a:endParaRPr/>
          </a:p>
        </p:txBody>
      </p:sp>
      <p:sp>
        <p:nvSpPr>
          <p:cNvPr id="175" name="Google Shape;175;p31"/>
          <p:cNvSpPr txBox="1"/>
          <p:nvPr>
            <p:ph idx="1" type="body"/>
          </p:nvPr>
        </p:nvSpPr>
        <p:spPr>
          <a:xfrm>
            <a:off x="311700" y="1152475"/>
            <a:ext cx="8609100" cy="2635200"/>
          </a:xfrm>
          <a:prstGeom prst="rect">
            <a:avLst/>
          </a:prstGeom>
        </p:spPr>
        <p:txBody>
          <a:bodyPr anchorCtr="0" anchor="t" bIns="91425" lIns="91425" spcFirstLastPara="1" rIns="91425" wrap="square" tIns="91425">
            <a:normAutofit fontScale="47500" lnSpcReduction="20000"/>
          </a:bodyPr>
          <a:lstStyle/>
          <a:p>
            <a:pPr indent="0" lvl="0" marL="0" rtl="0" algn="l">
              <a:lnSpc>
                <a:spcPct val="100000"/>
              </a:lnSpc>
              <a:spcBef>
                <a:spcPts val="0"/>
              </a:spcBef>
              <a:spcAft>
                <a:spcPts val="0"/>
              </a:spcAft>
              <a:buNone/>
            </a:pPr>
            <a:r>
              <a:rPr lang="en" sz="1300"/>
              <a:t>Explanation:</a:t>
            </a:r>
            <a:endParaRPr sz="1300"/>
          </a:p>
          <a:p>
            <a:pPr indent="0" lvl="0" marL="0" rtl="0" algn="l">
              <a:lnSpc>
                <a:spcPct val="100000"/>
              </a:lnSpc>
              <a:spcBef>
                <a:spcPts val="0"/>
              </a:spcBef>
              <a:spcAft>
                <a:spcPts val="0"/>
              </a:spcAft>
              <a:buNone/>
            </a:pPr>
            <a:r>
              <a:rPr lang="en" sz="1300"/>
              <a:t>A hardware Trojan is inserted that activates after 1000 legitimate DMA writes; it modifies the destination address for DMA transfers by adding a fixed offset (4 bytes), causing data corruption in a different memory region.</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Trigger:</a:t>
            </a:r>
            <a:endParaRPr sz="1300"/>
          </a:p>
          <a:p>
            <a:pPr indent="0" lvl="0" marL="0" rtl="0" algn="l">
              <a:lnSpc>
                <a:spcPct val="100000"/>
              </a:lnSpc>
              <a:spcBef>
                <a:spcPts val="0"/>
              </a:spcBef>
              <a:spcAft>
                <a:spcPts val="0"/>
              </a:spcAft>
              <a:buNone/>
            </a:pPr>
            <a:r>
              <a:rPr lang="en" sz="1300"/>
              <a:t>Internal simple counter that activates after N(1000) writes</a:t>
            </a:r>
            <a:endParaRPr sz="1300"/>
          </a:p>
          <a:p>
            <a:pPr indent="0" lvl="0" marL="0" rtl="0" algn="l">
              <a:lnSpc>
                <a:spcPct val="100000"/>
              </a:lnSpc>
              <a:spcBef>
                <a:spcPts val="0"/>
              </a:spcBef>
              <a:spcAft>
                <a:spcPts val="0"/>
              </a:spcAft>
              <a:buNone/>
            </a:pPr>
            <a:r>
              <a:rPr lang="en" sz="1300"/>
              <a:t>  logic [9:0] trojan_counter;</a:t>
            </a:r>
            <a:endParaRPr sz="1300"/>
          </a:p>
          <a:p>
            <a:pPr indent="0" lvl="0" marL="0" rtl="0" algn="l">
              <a:lnSpc>
                <a:spcPct val="100000"/>
              </a:lnSpc>
              <a:spcBef>
                <a:spcPts val="0"/>
              </a:spcBef>
              <a:spcAft>
                <a:spcPts val="0"/>
              </a:spcAft>
              <a:buNone/>
            </a:pPr>
            <a:r>
              <a:rPr lang="en" sz="1300"/>
              <a:t>  logic trojan_trigger;</a:t>
            </a:r>
            <a:endParaRPr sz="1300"/>
          </a:p>
          <a:p>
            <a:pPr indent="0" lvl="0" marL="0" rtl="0" algn="l">
              <a:lnSpc>
                <a:spcPct val="100000"/>
              </a:lnSpc>
              <a:spcBef>
                <a:spcPts val="0"/>
              </a:spcBef>
              <a:spcAft>
                <a:spcPts val="0"/>
              </a:spcAft>
              <a:buNone/>
            </a:pPr>
            <a:r>
              <a:rPr lang="en" sz="1300"/>
              <a:t>  always_ff @(posedge clk_i or negedge rst_ni) begin</a:t>
            </a:r>
            <a:endParaRPr sz="1300"/>
          </a:p>
          <a:p>
            <a:pPr indent="0" lvl="0" marL="0" rtl="0" algn="l">
              <a:lnSpc>
                <a:spcPct val="100000"/>
              </a:lnSpc>
              <a:spcBef>
                <a:spcPts val="0"/>
              </a:spcBef>
              <a:spcAft>
                <a:spcPts val="0"/>
              </a:spcAft>
              <a:buNone/>
            </a:pPr>
            <a:r>
              <a:rPr lang="en" sz="1300"/>
              <a:t>    if (!rst_ni)</a:t>
            </a:r>
            <a:endParaRPr sz="1300"/>
          </a:p>
          <a:p>
            <a:pPr indent="0" lvl="0" marL="0" rtl="0" algn="l">
              <a:lnSpc>
                <a:spcPct val="100000"/>
              </a:lnSpc>
              <a:spcBef>
                <a:spcPts val="0"/>
              </a:spcBef>
              <a:spcAft>
                <a:spcPts val="0"/>
              </a:spcAft>
              <a:buNone/>
            </a:pPr>
            <a:r>
              <a:rPr lang="en" sz="1300"/>
              <a:t>      trojan_counter &lt;= '0;</a:t>
            </a:r>
            <a:endParaRPr sz="1300"/>
          </a:p>
          <a:p>
            <a:pPr indent="0" lvl="0" marL="0" rtl="0" algn="l">
              <a:lnSpc>
                <a:spcPct val="100000"/>
              </a:lnSpc>
              <a:spcBef>
                <a:spcPts val="0"/>
              </a:spcBef>
              <a:spcAft>
                <a:spcPts val="0"/>
              </a:spcAft>
              <a:buNone/>
            </a:pPr>
            <a:r>
              <a:rPr lang="en" sz="1300"/>
              <a:t>    // Increment only when a DMA write to host occurs (simple event-based trigger)</a:t>
            </a:r>
            <a:endParaRPr sz="1300"/>
          </a:p>
          <a:p>
            <a:pPr indent="0" lvl="0" marL="0" rtl="0" algn="l">
              <a:lnSpc>
                <a:spcPct val="100000"/>
              </a:lnSpc>
              <a:spcBef>
                <a:spcPts val="0"/>
              </a:spcBef>
              <a:spcAft>
                <a:spcPts val="0"/>
              </a:spcAft>
              <a:buNone/>
            </a:pPr>
            <a:r>
              <a:rPr lang="en" sz="1300"/>
              <a:t>    else if (dma_host_write)</a:t>
            </a:r>
            <a:endParaRPr sz="1300"/>
          </a:p>
          <a:p>
            <a:pPr indent="0" lvl="0" marL="0" rtl="0" algn="l">
              <a:lnSpc>
                <a:spcPct val="100000"/>
              </a:lnSpc>
              <a:spcBef>
                <a:spcPts val="0"/>
              </a:spcBef>
              <a:spcAft>
                <a:spcPts val="0"/>
              </a:spcAft>
              <a:buNone/>
            </a:pPr>
            <a:r>
              <a:rPr lang="en" sz="1300"/>
              <a:t>      trojan_counter &lt;= trojan_counter + 1'b1;</a:t>
            </a:r>
            <a:endParaRPr sz="1300"/>
          </a:p>
          <a:p>
            <a:pPr indent="0" lvl="0" marL="0" rtl="0" algn="l">
              <a:lnSpc>
                <a:spcPct val="100000"/>
              </a:lnSpc>
              <a:spcBef>
                <a:spcPts val="0"/>
              </a:spcBef>
              <a:spcAft>
                <a:spcPts val="0"/>
              </a:spcAft>
              <a:buNone/>
            </a:pPr>
            <a:r>
              <a:rPr lang="en" sz="1300"/>
              <a:t>    else</a:t>
            </a:r>
            <a:endParaRPr sz="1300"/>
          </a:p>
          <a:p>
            <a:pPr indent="0" lvl="0" marL="0" rtl="0" algn="l">
              <a:lnSpc>
                <a:spcPct val="100000"/>
              </a:lnSpc>
              <a:spcBef>
                <a:spcPts val="0"/>
              </a:spcBef>
              <a:spcAft>
                <a:spcPts val="0"/>
              </a:spcAft>
              <a:buNone/>
            </a:pPr>
            <a:r>
              <a:rPr lang="en" sz="1300"/>
              <a:t>      trojan_counter &lt;= trojan_counter;</a:t>
            </a:r>
            <a:endParaRPr sz="1300"/>
          </a:p>
          <a:p>
            <a:pPr indent="0" lvl="0" marL="0" rtl="0" algn="l">
              <a:lnSpc>
                <a:spcPct val="100000"/>
              </a:lnSpc>
              <a:spcBef>
                <a:spcPts val="0"/>
              </a:spcBef>
              <a:spcAft>
                <a:spcPts val="0"/>
              </a:spcAft>
              <a:buNone/>
            </a:pPr>
            <a:r>
              <a:rPr lang="en" sz="1300"/>
              <a:t>  end</a:t>
            </a:r>
            <a:endParaRPr sz="1300"/>
          </a:p>
          <a:p>
            <a:pPr indent="0" lvl="0" marL="0" rtl="0" algn="l">
              <a:lnSpc>
                <a:spcPct val="100000"/>
              </a:lnSpc>
              <a:spcBef>
                <a:spcPts val="0"/>
              </a:spcBef>
              <a:spcAft>
                <a:spcPts val="0"/>
              </a:spcAft>
              <a:buNone/>
            </a:pPr>
            <a:r>
              <a:rPr lang="en" sz="1300"/>
              <a:t>  assign trojan_trigger = (trojan_counter == 10'd1000);</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Payload:</a:t>
            </a:r>
            <a:endParaRPr sz="1300"/>
          </a:p>
          <a:p>
            <a:pPr indent="0" lvl="0" marL="0" rtl="0" algn="l">
              <a:lnSpc>
                <a:spcPct val="100000"/>
              </a:lnSpc>
              <a:spcBef>
                <a:spcPts val="0"/>
              </a:spcBef>
              <a:spcAft>
                <a:spcPts val="0"/>
              </a:spcAft>
              <a:buNone/>
            </a:pPr>
            <a:r>
              <a:rPr lang="en" sz="1300"/>
              <a:t>When triggered, the Trojan adds a small offset to the DMA destination address in host write transactions, </a:t>
            </a:r>
            <a:endParaRPr sz="1300"/>
          </a:p>
          <a:p>
            <a:pPr indent="0" lvl="0" marL="0" rtl="0" algn="l">
              <a:lnSpc>
                <a:spcPct val="100000"/>
              </a:lnSpc>
              <a:spcBef>
                <a:spcPts val="0"/>
              </a:spcBef>
              <a:spcAft>
                <a:spcPts val="0"/>
              </a:spcAft>
              <a:buNone/>
            </a:pPr>
            <a:r>
              <a:rPr lang="en" sz="1300"/>
              <a:t>meaning critical data may be written to the wrong location, resulting in subtle memory corruption.</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Taxonomy:</a:t>
            </a:r>
            <a:endParaRPr sz="1300"/>
          </a:p>
          <a:p>
            <a:pPr indent="0" lvl="0" marL="0" rtl="0" algn="l">
              <a:lnSpc>
                <a:spcPct val="100000"/>
              </a:lnSpc>
              <a:spcBef>
                <a:spcPts val="0"/>
              </a:spcBef>
              <a:spcAft>
                <a:spcPts val="0"/>
              </a:spcAft>
              <a:buNone/>
            </a:pPr>
            <a:r>
              <a:rPr lang="en" sz="1300"/>
              <a:t>Insertion phase: Design  </a:t>
            </a:r>
            <a:endParaRPr sz="1300"/>
          </a:p>
          <a:p>
            <a:pPr indent="0" lvl="0" marL="0" rtl="0" algn="l">
              <a:lnSpc>
                <a:spcPct val="100000"/>
              </a:lnSpc>
              <a:spcBef>
                <a:spcPts val="0"/>
              </a:spcBef>
              <a:spcAft>
                <a:spcPts val="0"/>
              </a:spcAft>
              <a:buNone/>
            </a:pPr>
            <a:r>
              <a:rPr lang="en" sz="1300"/>
              <a:t>Abstraction level: Register-transfer level  </a:t>
            </a:r>
            <a:endParaRPr sz="1300"/>
          </a:p>
          <a:p>
            <a:pPr indent="0" lvl="0" marL="0" rtl="0" algn="l">
              <a:lnSpc>
                <a:spcPct val="100000"/>
              </a:lnSpc>
              <a:spcBef>
                <a:spcPts val="0"/>
              </a:spcBef>
              <a:spcAft>
                <a:spcPts val="0"/>
              </a:spcAft>
              <a:buNone/>
            </a:pPr>
            <a:r>
              <a:rPr lang="en" sz="1300"/>
              <a:t>Activation mechanism: Triggered internally (event counter)  </a:t>
            </a:r>
            <a:endParaRPr sz="1300"/>
          </a:p>
          <a:p>
            <a:pPr indent="0" lvl="0" marL="0" rtl="0" algn="l">
              <a:lnSpc>
                <a:spcPct val="100000"/>
              </a:lnSpc>
              <a:spcBef>
                <a:spcPts val="0"/>
              </a:spcBef>
              <a:spcAft>
                <a:spcPts val="0"/>
              </a:spcAft>
              <a:buNone/>
            </a:pPr>
            <a:r>
              <a:rPr lang="en" sz="1300"/>
              <a:t>Effects: DMA Address Modification  </a:t>
            </a:r>
            <a:endParaRPr sz="1300"/>
          </a:p>
          <a:p>
            <a:pPr indent="0" lvl="0" marL="0" rtl="0" algn="l">
              <a:lnSpc>
                <a:spcPct val="100000"/>
              </a:lnSpc>
              <a:spcBef>
                <a:spcPts val="0"/>
              </a:spcBef>
              <a:spcAft>
                <a:spcPts val="0"/>
              </a:spcAft>
              <a:buNone/>
            </a:pPr>
            <a:r>
              <a:rPr lang="en" sz="1300"/>
              <a:t>Location: I/O (DMA, Memory address lines)  </a:t>
            </a:r>
            <a:endParaRPr sz="1300"/>
          </a:p>
          <a:p>
            <a:pPr indent="0" lvl="0" marL="0" rtl="0" algn="l">
              <a:lnSpc>
                <a:spcPct val="100000"/>
              </a:lnSpc>
              <a:spcBef>
                <a:spcPts val="0"/>
              </a:spcBef>
              <a:spcAft>
                <a:spcPts val="0"/>
              </a:spcAft>
              <a:buNone/>
            </a:pPr>
            <a:r>
              <a:rPr lang="en" sz="1300"/>
              <a:t>Characteristics: Distributed, small functional modification, stealthy (delay-triggered)</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DMA Test Marked incompatible by OpenTitan</a:t>
            </a:r>
            <a:endParaRPr sz="1300"/>
          </a:p>
        </p:txBody>
      </p:sp>
      <p:pic>
        <p:nvPicPr>
          <p:cNvPr id="176" name="Google Shape;176;p31"/>
          <p:cNvPicPr preferRelativeResize="0"/>
          <p:nvPr/>
        </p:nvPicPr>
        <p:blipFill>
          <a:blip r:embed="rId3">
            <a:alphaModFix/>
          </a:blip>
          <a:stretch>
            <a:fillRect/>
          </a:stretch>
        </p:blipFill>
        <p:spPr>
          <a:xfrm>
            <a:off x="4426756" y="2571750"/>
            <a:ext cx="4631294" cy="2448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AES DOS</a:t>
            </a:r>
            <a:endParaRPr/>
          </a:p>
        </p:txBody>
      </p:sp>
      <p:sp>
        <p:nvSpPr>
          <p:cNvPr id="182" name="Google Shape;182;p32"/>
          <p:cNvSpPr txBox="1"/>
          <p:nvPr>
            <p:ph idx="1" type="body"/>
          </p:nvPr>
        </p:nvSpPr>
        <p:spPr>
          <a:xfrm>
            <a:off x="311700" y="1152475"/>
            <a:ext cx="7822800" cy="2769900"/>
          </a:xfrm>
          <a:prstGeom prst="rect">
            <a:avLst/>
          </a:prstGeom>
        </p:spPr>
        <p:txBody>
          <a:bodyPr anchorCtr="0" anchor="t" bIns="91425" lIns="91425" spcFirstLastPara="1" rIns="91425" wrap="square" tIns="91425">
            <a:normAutofit fontScale="70000" lnSpcReduction="20000"/>
          </a:bodyPr>
          <a:lstStyle/>
          <a:p>
            <a:pPr indent="0" lvl="0" marL="0" rtl="0" algn="l">
              <a:lnSpc>
                <a:spcPct val="100000"/>
              </a:lnSpc>
              <a:spcBef>
                <a:spcPts val="0"/>
              </a:spcBef>
              <a:spcAft>
                <a:spcPts val="0"/>
              </a:spcAft>
              <a:buNone/>
            </a:pPr>
            <a:r>
              <a:rPr lang="en" sz="1300"/>
              <a:t>Explanation:</a:t>
            </a:r>
            <a:endParaRPr sz="1300"/>
          </a:p>
          <a:p>
            <a:pPr indent="0" lvl="0" marL="0" rtl="0" algn="l">
              <a:lnSpc>
                <a:spcPct val="100000"/>
              </a:lnSpc>
              <a:spcBef>
                <a:spcPts val="0"/>
              </a:spcBef>
              <a:spcAft>
                <a:spcPts val="0"/>
              </a:spcAft>
              <a:buNone/>
            </a:pPr>
            <a:r>
              <a:rPr lang="en" sz="1300"/>
              <a:t>A synthesizable Trojan counter was inserted to track AES encryption operations, and after the 862nd operation, the core's enable signal is masked so the AES cannot perform any further encryption. The core functionality up to that count is unaffected, and all resets and logic are properly handled.</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Trigger:</a:t>
            </a:r>
            <a:endParaRPr sz="1300"/>
          </a:p>
          <a:p>
            <a:pPr indent="0" lvl="0" marL="0" rtl="0" algn="l">
              <a:lnSpc>
                <a:spcPct val="100000"/>
              </a:lnSpc>
              <a:spcBef>
                <a:spcPts val="0"/>
              </a:spcBef>
              <a:spcAft>
                <a:spcPts val="0"/>
              </a:spcAft>
              <a:buNone/>
            </a:pPr>
            <a:r>
              <a:rPr lang="en" sz="1300"/>
              <a:t>Disable after 862 encryptions</a:t>
            </a:r>
            <a:endParaRPr sz="1300"/>
          </a:p>
          <a:p>
            <a:pPr indent="0" lvl="0" marL="0" rtl="0" algn="l">
              <a:lnSpc>
                <a:spcPct val="100000"/>
              </a:lnSpc>
              <a:spcBef>
                <a:spcPts val="0"/>
              </a:spcBef>
              <a:spcAft>
                <a:spcPts val="0"/>
              </a:spcAft>
              <a:buNone/>
            </a:pPr>
            <a:r>
              <a:rPr lang="en" sz="1300"/>
              <a:t>  assign trojan_dos_disable = (trojan_dos_enc_counter &gt;= 10'd862);</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Payload:</a:t>
            </a:r>
            <a:endParaRPr sz="1300"/>
          </a:p>
          <a:p>
            <a:pPr indent="0" lvl="0" marL="0" rtl="0" algn="l">
              <a:lnSpc>
                <a:spcPct val="100000"/>
              </a:lnSpc>
              <a:spcBef>
                <a:spcPts val="0"/>
              </a:spcBef>
              <a:spcAft>
                <a:spcPts val="0"/>
              </a:spcAft>
              <a:buNone/>
            </a:pPr>
            <a:r>
              <a:rPr lang="en" sz="1300"/>
              <a:t>When the trigger condition is met, the enable signal for launching new AES operations is forcibly disabled, halting any further encryption attempts and causing a persistent Denial of Service. The AES block will still respond to simulation and system queries but cannot process more encryptions.</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Taxonomy:</a:t>
            </a:r>
            <a:endParaRPr sz="1300"/>
          </a:p>
          <a:p>
            <a:pPr indent="0" lvl="0" marL="0" rtl="0" algn="l">
              <a:lnSpc>
                <a:spcPct val="100000"/>
              </a:lnSpc>
              <a:spcBef>
                <a:spcPts val="0"/>
              </a:spcBef>
              <a:spcAft>
                <a:spcPts val="0"/>
              </a:spcAft>
              <a:buNone/>
            </a:pPr>
            <a:r>
              <a:rPr lang="en" sz="1300"/>
              <a:t>Insertion phase: Design  </a:t>
            </a:r>
            <a:endParaRPr sz="1300"/>
          </a:p>
          <a:p>
            <a:pPr indent="0" lvl="0" marL="0" rtl="0" algn="l">
              <a:lnSpc>
                <a:spcPct val="100000"/>
              </a:lnSpc>
              <a:spcBef>
                <a:spcPts val="0"/>
              </a:spcBef>
              <a:spcAft>
                <a:spcPts val="0"/>
              </a:spcAft>
              <a:buNone/>
            </a:pPr>
            <a:r>
              <a:rPr lang="en" sz="1300"/>
              <a:t>Abstraction level: Register-transfer level  </a:t>
            </a:r>
            <a:endParaRPr sz="1300"/>
          </a:p>
          <a:p>
            <a:pPr indent="0" lvl="0" marL="0" rtl="0" algn="l">
              <a:lnSpc>
                <a:spcPct val="100000"/>
              </a:lnSpc>
              <a:spcBef>
                <a:spcPts val="0"/>
              </a:spcBef>
              <a:spcAft>
                <a:spcPts val="0"/>
              </a:spcAft>
              <a:buNone/>
            </a:pPr>
            <a:r>
              <a:rPr lang="en" sz="1300"/>
              <a:t>Activation mechanism: Triggered internally (event-count trigger, 862 encryptions)  </a:t>
            </a:r>
            <a:endParaRPr sz="1300"/>
          </a:p>
          <a:p>
            <a:pPr indent="0" lvl="0" marL="0" rtl="0" algn="l">
              <a:lnSpc>
                <a:spcPct val="100000"/>
              </a:lnSpc>
              <a:spcBef>
                <a:spcPts val="0"/>
              </a:spcBef>
              <a:spcAft>
                <a:spcPts val="0"/>
              </a:spcAft>
              <a:buNone/>
            </a:pPr>
            <a:r>
              <a:rPr lang="en" sz="1300"/>
              <a:t>Effects: AES Denial of Service (DoS)  </a:t>
            </a:r>
            <a:endParaRPr sz="1300"/>
          </a:p>
          <a:p>
            <a:pPr indent="0" lvl="0" marL="0" rtl="0" algn="l">
              <a:lnSpc>
                <a:spcPct val="100000"/>
              </a:lnSpc>
              <a:spcBef>
                <a:spcPts val="0"/>
              </a:spcBef>
              <a:spcAft>
                <a:spcPts val="0"/>
              </a:spcAft>
              <a:buNone/>
            </a:pPr>
            <a:r>
              <a:rPr lang="en" sz="1300"/>
              <a:t>Location: Processor/AES core logic/control  </a:t>
            </a:r>
            <a:endParaRPr sz="1300"/>
          </a:p>
          <a:p>
            <a:pPr indent="0" lvl="0" marL="0" rtl="0" algn="l">
              <a:lnSpc>
                <a:spcPct val="100000"/>
              </a:lnSpc>
              <a:spcBef>
                <a:spcPts val="0"/>
              </a:spcBef>
              <a:spcAft>
                <a:spcPts val="0"/>
              </a:spcAft>
              <a:buNone/>
            </a:pPr>
            <a:r>
              <a:rPr lang="en" sz="1300"/>
              <a:t>Characteristics: Localized, single-signal gating, Functional Trojan, minimal logic </a:t>
            </a:r>
            <a:endParaRPr sz="1300"/>
          </a:p>
          <a:p>
            <a:pPr indent="0" lvl="0" marL="0" rtl="0" algn="l">
              <a:lnSpc>
                <a:spcPct val="100000"/>
              </a:lnSpc>
              <a:spcBef>
                <a:spcPts val="0"/>
              </a:spcBef>
              <a:spcAft>
                <a:spcPts val="0"/>
              </a:spcAft>
              <a:buNone/>
            </a:pPr>
            <a:r>
              <a:rPr lang="en" sz="1300"/>
              <a:t>overhead</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Result:  Trojan was caught in 60% of the testcases</a:t>
            </a:r>
            <a:endParaRPr sz="1300"/>
          </a:p>
        </p:txBody>
      </p:sp>
      <p:pic>
        <p:nvPicPr>
          <p:cNvPr id="183" name="Google Shape;183;p32"/>
          <p:cNvPicPr preferRelativeResize="0"/>
          <p:nvPr/>
        </p:nvPicPr>
        <p:blipFill>
          <a:blip r:embed="rId3">
            <a:alphaModFix/>
          </a:blip>
          <a:stretch>
            <a:fillRect/>
          </a:stretch>
        </p:blipFill>
        <p:spPr>
          <a:xfrm>
            <a:off x="4938725" y="2748625"/>
            <a:ext cx="4036625" cy="21550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UART Performance Degradation</a:t>
            </a:r>
            <a:endParaRPr/>
          </a:p>
        </p:txBody>
      </p:sp>
      <p:sp>
        <p:nvSpPr>
          <p:cNvPr id="189" name="Google Shape;189;p33"/>
          <p:cNvSpPr txBox="1"/>
          <p:nvPr>
            <p:ph idx="1" type="body"/>
          </p:nvPr>
        </p:nvSpPr>
        <p:spPr>
          <a:xfrm>
            <a:off x="311700" y="1152475"/>
            <a:ext cx="7533000" cy="3069900"/>
          </a:xfrm>
          <a:prstGeom prst="rect">
            <a:avLst/>
          </a:prstGeom>
        </p:spPr>
        <p:txBody>
          <a:bodyPr anchorCtr="0" anchor="t" bIns="91425" lIns="91425" spcFirstLastPara="1" rIns="91425" wrap="square" tIns="91425">
            <a:normAutofit fontScale="55000" lnSpcReduction="20000"/>
          </a:bodyPr>
          <a:lstStyle/>
          <a:p>
            <a:pPr indent="0" lvl="0" marL="0" rtl="0" algn="l">
              <a:lnSpc>
                <a:spcPct val="100000"/>
              </a:lnSpc>
              <a:spcBef>
                <a:spcPts val="0"/>
              </a:spcBef>
              <a:spcAft>
                <a:spcPts val="0"/>
              </a:spcAft>
              <a:buNone/>
            </a:pPr>
            <a:r>
              <a:rPr lang="en" sz="1300"/>
              <a:t>Explanation:</a:t>
            </a:r>
            <a:endParaRPr sz="1300"/>
          </a:p>
          <a:p>
            <a:pPr indent="0" lvl="0" marL="0" rtl="0" algn="l">
              <a:lnSpc>
                <a:spcPct val="100000"/>
              </a:lnSpc>
              <a:spcBef>
                <a:spcPts val="0"/>
              </a:spcBef>
              <a:spcAft>
                <a:spcPts val="0"/>
              </a:spcAft>
              <a:buNone/>
            </a:pPr>
            <a:r>
              <a:rPr lang="en" sz="1300"/>
              <a:t>A Trojan was inserted by adding a synthesizable 64-bit shift register (LFSR-style) that continuously toggles once triggered, raising internal switching activity and power without affecting normal UART operation.</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Trigger:</a:t>
            </a:r>
            <a:endParaRPr sz="1300"/>
          </a:p>
          <a:p>
            <a:pPr indent="0" lvl="0" marL="0" rtl="0" algn="l">
              <a:lnSpc>
                <a:spcPct val="100000"/>
              </a:lnSpc>
              <a:spcBef>
                <a:spcPts val="0"/>
              </a:spcBef>
              <a:spcAft>
                <a:spcPts val="0"/>
              </a:spcAft>
              <a:buNone/>
            </a:pPr>
            <a:r>
              <a:rPr lang="en" sz="1300"/>
              <a:t>activate when RX FIFO overflows at least once since reset</a:t>
            </a:r>
            <a:endParaRPr sz="1300"/>
          </a:p>
          <a:p>
            <a:pPr indent="0" lvl="0" marL="0" rtl="0" algn="l">
              <a:lnSpc>
                <a:spcPct val="100000"/>
              </a:lnSpc>
              <a:spcBef>
                <a:spcPts val="0"/>
              </a:spcBef>
              <a:spcAft>
                <a:spcPts val="0"/>
              </a:spcAft>
              <a:buNone/>
            </a:pPr>
            <a:r>
              <a:rPr lang="en" sz="1300"/>
              <a:t>  logic trojan_trigger;</a:t>
            </a:r>
            <a:endParaRPr sz="1300"/>
          </a:p>
          <a:p>
            <a:pPr indent="0" lvl="0" marL="0" rtl="0" algn="l">
              <a:lnSpc>
                <a:spcPct val="100000"/>
              </a:lnSpc>
              <a:spcBef>
                <a:spcPts val="0"/>
              </a:spcBef>
              <a:spcAft>
                <a:spcPts val="0"/>
              </a:spcAft>
              <a:buNone/>
            </a:pPr>
            <a:r>
              <a:rPr lang="en" sz="1300"/>
              <a:t>  logic trojan_armed_q, trojan_armed_d;</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Payload:</a:t>
            </a:r>
            <a:endParaRPr sz="1300"/>
          </a:p>
          <a:p>
            <a:pPr indent="0" lvl="0" marL="0" rtl="0" algn="l">
              <a:lnSpc>
                <a:spcPct val="100000"/>
              </a:lnSpc>
              <a:spcBef>
                <a:spcPts val="0"/>
              </a:spcBef>
              <a:spcAft>
                <a:spcPts val="0"/>
              </a:spcAft>
              <a:buNone/>
            </a:pPr>
            <a:r>
              <a:rPr lang="en" sz="1300"/>
              <a:t>runs a 64-bit shift register continuously, increasing switching activity (hence power), harmless to functionality</a:t>
            </a:r>
            <a:endParaRPr sz="1300"/>
          </a:p>
          <a:p>
            <a:pPr indent="0" lvl="0" marL="0" rtl="0" algn="l">
              <a:lnSpc>
                <a:spcPct val="100000"/>
              </a:lnSpc>
              <a:spcBef>
                <a:spcPts val="0"/>
              </a:spcBef>
              <a:spcAft>
                <a:spcPts val="0"/>
              </a:spcAft>
              <a:buNone/>
            </a:pPr>
            <a:r>
              <a:rPr lang="en" sz="1300"/>
              <a:t>  always_ff @(posedge clk_i or negedge rst_ni) begin</a:t>
            </a:r>
            <a:endParaRPr sz="1300"/>
          </a:p>
          <a:p>
            <a:pPr indent="0" lvl="0" marL="0" rtl="0" algn="l">
              <a:lnSpc>
                <a:spcPct val="100000"/>
              </a:lnSpc>
              <a:spcBef>
                <a:spcPts val="0"/>
              </a:spcBef>
              <a:spcAft>
                <a:spcPts val="0"/>
              </a:spcAft>
              <a:buNone/>
            </a:pPr>
            <a:r>
              <a:rPr lang="en" sz="1300"/>
              <a:t>    if (!rst_ni)</a:t>
            </a:r>
            <a:endParaRPr sz="1300"/>
          </a:p>
          <a:p>
            <a:pPr indent="0" lvl="0" marL="0" rtl="0" algn="l">
              <a:lnSpc>
                <a:spcPct val="100000"/>
              </a:lnSpc>
              <a:spcBef>
                <a:spcPts val="0"/>
              </a:spcBef>
              <a:spcAft>
                <a:spcPts val="0"/>
              </a:spcAft>
              <a:buNone/>
            </a:pPr>
            <a:r>
              <a:rPr lang="en" sz="1300"/>
              <a:t>      trojan_shreg_q &lt;= 64'h1;</a:t>
            </a:r>
            <a:endParaRPr sz="1300"/>
          </a:p>
          <a:p>
            <a:pPr indent="0" lvl="0" marL="0" rtl="0" algn="l">
              <a:lnSpc>
                <a:spcPct val="100000"/>
              </a:lnSpc>
              <a:spcBef>
                <a:spcPts val="0"/>
              </a:spcBef>
              <a:spcAft>
                <a:spcPts val="0"/>
              </a:spcAft>
              <a:buNone/>
            </a:pPr>
            <a:r>
              <a:rPr lang="en" sz="1300"/>
              <a:t>    else if (trojan_active_q)</a:t>
            </a:r>
            <a:endParaRPr sz="1300"/>
          </a:p>
          <a:p>
            <a:pPr indent="0" lvl="0" marL="0" rtl="0" algn="l">
              <a:lnSpc>
                <a:spcPct val="100000"/>
              </a:lnSpc>
              <a:spcBef>
                <a:spcPts val="0"/>
              </a:spcBef>
              <a:spcAft>
                <a:spcPts val="0"/>
              </a:spcAft>
              <a:buNone/>
            </a:pPr>
            <a:r>
              <a:rPr lang="en" sz="1300"/>
              <a:t>      trojan_shreg_q &lt;= {trojan_shreg_q[62:0], trojan_shreg_q[63] ^ trojan_shreg_q[59]}; // e.g., LFSR-style continuous toggle</a:t>
            </a:r>
            <a:endParaRPr sz="1300"/>
          </a:p>
          <a:p>
            <a:pPr indent="0" lvl="0" marL="0" rtl="0" algn="l">
              <a:lnSpc>
                <a:spcPct val="100000"/>
              </a:lnSpc>
              <a:spcBef>
                <a:spcPts val="0"/>
              </a:spcBef>
              <a:spcAft>
                <a:spcPts val="0"/>
              </a:spcAft>
              <a:buNone/>
            </a:pPr>
            <a:r>
              <a:rPr lang="en" sz="1300"/>
              <a:t>    else</a:t>
            </a:r>
            <a:endParaRPr sz="1300"/>
          </a:p>
          <a:p>
            <a:pPr indent="0" lvl="0" marL="0" rtl="0" algn="l">
              <a:lnSpc>
                <a:spcPct val="100000"/>
              </a:lnSpc>
              <a:spcBef>
                <a:spcPts val="0"/>
              </a:spcBef>
              <a:spcAft>
                <a:spcPts val="0"/>
              </a:spcAft>
              <a:buNone/>
            </a:pPr>
            <a:r>
              <a:rPr lang="en" sz="1300"/>
              <a:t>      trojan_shreg_q &lt;= trojan_shreg_q;</a:t>
            </a:r>
            <a:endParaRPr sz="1300"/>
          </a:p>
          <a:p>
            <a:pPr indent="0" lvl="0" marL="0" rtl="0" algn="l">
              <a:lnSpc>
                <a:spcPct val="100000"/>
              </a:lnSpc>
              <a:spcBef>
                <a:spcPts val="0"/>
              </a:spcBef>
              <a:spcAft>
                <a:spcPts val="0"/>
              </a:spcAft>
              <a:buNone/>
            </a:pPr>
            <a:r>
              <a:rPr lang="en" sz="1300"/>
              <a:t>  end</a:t>
            </a:r>
            <a:endParaRPr sz="1300"/>
          </a:p>
          <a:p>
            <a:pPr indent="0" lvl="0" marL="0" rtl="0" algn="l">
              <a:lnSpc>
                <a:spcPct val="100000"/>
              </a:lnSpc>
              <a:spcBef>
                <a:spcPts val="0"/>
              </a:spcBef>
              <a:spcAft>
                <a:spcPts val="0"/>
              </a:spcAft>
              <a:buNone/>
            </a:pPr>
            <a:r>
              <a:rPr lang="en" sz="1300"/>
              <a:t>  // ========== Trojan END ==========</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Taxonomy:</a:t>
            </a:r>
            <a:endParaRPr sz="1300"/>
          </a:p>
          <a:p>
            <a:pPr indent="0" lvl="0" marL="0" rtl="0" algn="l">
              <a:lnSpc>
                <a:spcPct val="100000"/>
              </a:lnSpc>
              <a:spcBef>
                <a:spcPts val="0"/>
              </a:spcBef>
              <a:spcAft>
                <a:spcPts val="0"/>
              </a:spcAft>
              <a:buNone/>
            </a:pPr>
            <a:r>
              <a:rPr lang="en" sz="1300"/>
              <a:t>Insertion phase: Design  </a:t>
            </a:r>
            <a:endParaRPr sz="1300"/>
          </a:p>
          <a:p>
            <a:pPr indent="0" lvl="0" marL="0" rtl="0" algn="l">
              <a:lnSpc>
                <a:spcPct val="100000"/>
              </a:lnSpc>
              <a:spcBef>
                <a:spcPts val="0"/>
              </a:spcBef>
              <a:spcAft>
                <a:spcPts val="0"/>
              </a:spcAft>
              <a:buNone/>
            </a:pPr>
            <a:r>
              <a:rPr lang="en" sz="1300"/>
              <a:t>Abstraction level: Register-transfer level  </a:t>
            </a:r>
            <a:endParaRPr sz="1300"/>
          </a:p>
          <a:p>
            <a:pPr indent="0" lvl="0" marL="0" rtl="0" algn="l">
              <a:lnSpc>
                <a:spcPct val="100000"/>
              </a:lnSpc>
              <a:spcBef>
                <a:spcPts val="0"/>
              </a:spcBef>
              <a:spcAft>
                <a:spcPts val="0"/>
              </a:spcAft>
              <a:buNone/>
            </a:pPr>
            <a:r>
              <a:rPr lang="en" sz="1300"/>
              <a:t>Activation mechanism: Triggered internally (by RX overflow event)  </a:t>
            </a:r>
            <a:endParaRPr sz="1300"/>
          </a:p>
          <a:p>
            <a:pPr indent="0" lvl="0" marL="0" rtl="0" algn="l">
              <a:lnSpc>
                <a:spcPct val="100000"/>
              </a:lnSpc>
              <a:spcBef>
                <a:spcPts val="0"/>
              </a:spcBef>
              <a:spcAft>
                <a:spcPts val="0"/>
              </a:spcAft>
              <a:buNone/>
            </a:pPr>
            <a:r>
              <a:rPr lang="en" sz="1300"/>
              <a:t>Effects: performance degradation  </a:t>
            </a:r>
            <a:endParaRPr sz="1300"/>
          </a:p>
          <a:p>
            <a:pPr indent="0" lvl="0" marL="0" rtl="0" algn="l">
              <a:lnSpc>
                <a:spcPct val="100000"/>
              </a:lnSpc>
              <a:spcBef>
                <a:spcPts val="0"/>
              </a:spcBef>
              <a:spcAft>
                <a:spcPts val="0"/>
              </a:spcAft>
              <a:buNone/>
            </a:pPr>
            <a:r>
              <a:rPr lang="en" sz="1300"/>
              <a:t>Location: I/O  </a:t>
            </a:r>
            <a:endParaRPr sz="1300"/>
          </a:p>
          <a:p>
            <a:pPr indent="0" lvl="0" marL="0" rtl="0" algn="l">
              <a:lnSpc>
                <a:spcPct val="100000"/>
              </a:lnSpc>
              <a:spcBef>
                <a:spcPts val="0"/>
              </a:spcBef>
              <a:spcAft>
                <a:spcPts val="0"/>
              </a:spcAft>
              <a:buNone/>
            </a:pPr>
            <a:r>
              <a:rPr lang="en" sz="1300"/>
              <a:t>Characteristics: Distributed, small-sized, parametric (power only),</a:t>
            </a:r>
            <a:endParaRPr sz="1300"/>
          </a:p>
          <a:p>
            <a:pPr indent="0" lvl="0" marL="0" rtl="0" algn="l">
              <a:lnSpc>
                <a:spcPct val="100000"/>
              </a:lnSpc>
              <a:spcBef>
                <a:spcPts val="0"/>
              </a:spcBef>
              <a:spcAft>
                <a:spcPts val="0"/>
              </a:spcAft>
              <a:buNone/>
            </a:pPr>
            <a:r>
              <a:rPr lang="en" sz="1300"/>
              <a:t> stealthy and functional Trojan</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en" sz="1300"/>
              <a:t>Result: Trojan was not </a:t>
            </a:r>
            <a:r>
              <a:rPr lang="en" sz="1300"/>
              <a:t>caught</a:t>
            </a:r>
            <a:r>
              <a:rPr lang="en" sz="1300"/>
              <a:t> using original testbench</a:t>
            </a:r>
            <a:endParaRPr sz="1300"/>
          </a:p>
        </p:txBody>
      </p:sp>
      <p:pic>
        <p:nvPicPr>
          <p:cNvPr id="190" name="Google Shape;190;p33"/>
          <p:cNvPicPr preferRelativeResize="0"/>
          <p:nvPr/>
        </p:nvPicPr>
        <p:blipFill>
          <a:blip r:embed="rId3">
            <a:alphaModFix/>
          </a:blip>
          <a:stretch>
            <a:fillRect/>
          </a:stretch>
        </p:blipFill>
        <p:spPr>
          <a:xfrm>
            <a:off x="3830525" y="3118750"/>
            <a:ext cx="5151950" cy="18915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